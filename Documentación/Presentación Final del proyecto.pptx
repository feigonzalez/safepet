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layfair Displ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0" roundtripDataSignature="AMtx7mgZUAtM4G1kUsssxL2NjYW0fk5g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fairDisplay-regular.fntdata"/><Relationship Id="rId21" Type="http://schemas.openxmlformats.org/officeDocument/2006/relationships/slide" Target="slides/slide16.xml"/><Relationship Id="rId24" Type="http://schemas.openxmlformats.org/officeDocument/2006/relationships/font" Target="fonts/PlayfairDisplay-italic.fntdata"/><Relationship Id="rId23" Type="http://schemas.openxmlformats.org/officeDocument/2006/relationships/font" Target="fonts/PlayfairDi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PlayfairDispl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f1f6c57a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f1f6c57a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7"/>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7"/>
          <p:cNvSpPr txBox="1"/>
          <p:nvPr>
            <p:ph type="ctrTitle"/>
          </p:nvPr>
        </p:nvSpPr>
        <p:spPr>
          <a:xfrm>
            <a:off x="3096250" y="1627200"/>
            <a:ext cx="2951400" cy="1584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17"/>
          <p:cNvSpPr txBox="1"/>
          <p:nvPr>
            <p:ph idx="1" type="subTitle"/>
          </p:nvPr>
        </p:nvSpPr>
        <p:spPr>
          <a:xfrm>
            <a:off x="3096363" y="3266930"/>
            <a:ext cx="2951400" cy="701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1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18"/>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8"/>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8" name="Google Shape;1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 name="Shape 20"/>
        <p:cNvGrpSpPr/>
        <p:nvPr/>
      </p:nvGrpSpPr>
      <p:grpSpPr>
        <a:xfrm>
          <a:off x="0" y="0"/>
          <a:ext cx="0" cy="0"/>
          <a:chOff x="0" y="0"/>
          <a:chExt cx="0" cy="0"/>
        </a:xfrm>
      </p:grpSpPr>
      <p:sp>
        <p:nvSpPr>
          <p:cNvPr id="21" name="Google Shape;21;p1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 name="Google Shape;22;p1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3" name="Google Shape;23;p19"/>
          <p:cNvSpPr txBox="1"/>
          <p:nvPr>
            <p:ph type="title"/>
          </p:nvPr>
        </p:nvSpPr>
        <p:spPr>
          <a:xfrm>
            <a:off x="265500" y="1107950"/>
            <a:ext cx="4045200" cy="168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4" name="Google Shape;24;p19"/>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5" name="Google Shape;25;p1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26" name="Google Shape;26;p1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7" name="Shape 27"/>
        <p:cNvGrpSpPr/>
        <p:nvPr/>
      </p:nvGrpSpPr>
      <p:grpSpPr>
        <a:xfrm>
          <a:off x="0" y="0"/>
          <a:ext cx="0" cy="0"/>
          <a:chOff x="0" y="0"/>
          <a:chExt cx="0" cy="0"/>
        </a:xfrm>
      </p:grpSpPr>
      <p:sp>
        <p:nvSpPr>
          <p:cNvPr id="28" name="Google Shape;28;p20"/>
          <p:cNvSpPr txBox="1"/>
          <p:nvPr>
            <p:ph type="title"/>
          </p:nvPr>
        </p:nvSpPr>
        <p:spPr>
          <a:xfrm>
            <a:off x="509550" y="1423875"/>
            <a:ext cx="8124900" cy="1798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29" name="Google Shape;29;p2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2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2" name="Google Shape;32;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2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22"/>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7" name="Google Shape;37;p2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23"/>
          <p:cNvSpPr txBox="1"/>
          <p:nvPr>
            <p:ph idx="1" type="body"/>
          </p:nvPr>
        </p:nvSpPr>
        <p:spPr>
          <a:xfrm>
            <a:off x="311700" y="1391378"/>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2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42" name="Shape 42"/>
        <p:cNvGrpSpPr/>
        <p:nvPr/>
      </p:nvGrpSpPr>
      <p:grpSpPr>
        <a:xfrm>
          <a:off x="0" y="0"/>
          <a:ext cx="0" cy="0"/>
          <a:chOff x="0" y="0"/>
          <a:chExt cx="0" cy="0"/>
        </a:xfrm>
      </p:grpSpPr>
      <p:sp>
        <p:nvSpPr>
          <p:cNvPr id="43" name="Google Shape;43;p24"/>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44" name="Google Shape;44;p2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25"/>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2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26"/>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6"/>
          <p:cNvSpPr txBox="1"/>
          <p:nvPr>
            <p:ph hasCustomPrompt="1" type="title"/>
          </p:nvPr>
        </p:nvSpPr>
        <p:spPr>
          <a:xfrm>
            <a:off x="311700" y="1233100"/>
            <a:ext cx="8520600" cy="161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0000"/>
              <a:buFont typeface="Lato"/>
              <a:buNone/>
              <a:defRPr sz="10000">
                <a:latin typeface="Lato"/>
                <a:ea typeface="Lato"/>
                <a:cs typeface="Lato"/>
                <a:sym typeface="Lato"/>
              </a:defRPr>
            </a:lvl1pPr>
            <a:lvl2pPr lvl="1" algn="ctr">
              <a:lnSpc>
                <a:spcPct val="100000"/>
              </a:lnSpc>
              <a:spcBef>
                <a:spcPts val="0"/>
              </a:spcBef>
              <a:spcAft>
                <a:spcPts val="0"/>
              </a:spcAft>
              <a:buSzPts val="10000"/>
              <a:buFont typeface="Lato"/>
              <a:buNone/>
              <a:defRPr sz="10000">
                <a:latin typeface="Lato"/>
                <a:ea typeface="Lato"/>
                <a:cs typeface="Lato"/>
                <a:sym typeface="Lato"/>
              </a:defRPr>
            </a:lvl2pPr>
            <a:lvl3pPr lvl="2" algn="ctr">
              <a:lnSpc>
                <a:spcPct val="100000"/>
              </a:lnSpc>
              <a:spcBef>
                <a:spcPts val="0"/>
              </a:spcBef>
              <a:spcAft>
                <a:spcPts val="0"/>
              </a:spcAft>
              <a:buSzPts val="10000"/>
              <a:buFont typeface="Lato"/>
              <a:buNone/>
              <a:defRPr sz="10000">
                <a:latin typeface="Lato"/>
                <a:ea typeface="Lato"/>
                <a:cs typeface="Lato"/>
                <a:sym typeface="Lato"/>
              </a:defRPr>
            </a:lvl3pPr>
            <a:lvl4pPr lvl="3" algn="ctr">
              <a:lnSpc>
                <a:spcPct val="100000"/>
              </a:lnSpc>
              <a:spcBef>
                <a:spcPts val="0"/>
              </a:spcBef>
              <a:spcAft>
                <a:spcPts val="0"/>
              </a:spcAft>
              <a:buSzPts val="10000"/>
              <a:buFont typeface="Lato"/>
              <a:buNone/>
              <a:defRPr sz="10000">
                <a:latin typeface="Lato"/>
                <a:ea typeface="Lato"/>
                <a:cs typeface="Lato"/>
                <a:sym typeface="Lato"/>
              </a:defRPr>
            </a:lvl4pPr>
            <a:lvl5pPr lvl="4" algn="ctr">
              <a:lnSpc>
                <a:spcPct val="100000"/>
              </a:lnSpc>
              <a:spcBef>
                <a:spcPts val="0"/>
              </a:spcBef>
              <a:spcAft>
                <a:spcPts val="0"/>
              </a:spcAft>
              <a:buSzPts val="10000"/>
              <a:buFont typeface="Lato"/>
              <a:buNone/>
              <a:defRPr sz="10000">
                <a:latin typeface="Lato"/>
                <a:ea typeface="Lato"/>
                <a:cs typeface="Lato"/>
                <a:sym typeface="Lato"/>
              </a:defRPr>
            </a:lvl5pPr>
            <a:lvl6pPr lvl="5" algn="ctr">
              <a:lnSpc>
                <a:spcPct val="100000"/>
              </a:lnSpc>
              <a:spcBef>
                <a:spcPts val="0"/>
              </a:spcBef>
              <a:spcAft>
                <a:spcPts val="0"/>
              </a:spcAft>
              <a:buSzPts val="10000"/>
              <a:buFont typeface="Lato"/>
              <a:buNone/>
              <a:defRPr sz="10000">
                <a:latin typeface="Lato"/>
                <a:ea typeface="Lato"/>
                <a:cs typeface="Lato"/>
                <a:sym typeface="Lato"/>
              </a:defRPr>
            </a:lvl6pPr>
            <a:lvl7pPr lvl="6" algn="ctr">
              <a:lnSpc>
                <a:spcPct val="100000"/>
              </a:lnSpc>
              <a:spcBef>
                <a:spcPts val="0"/>
              </a:spcBef>
              <a:spcAft>
                <a:spcPts val="0"/>
              </a:spcAft>
              <a:buSzPts val="10000"/>
              <a:buFont typeface="Lato"/>
              <a:buNone/>
              <a:defRPr sz="10000">
                <a:latin typeface="Lato"/>
                <a:ea typeface="Lato"/>
                <a:cs typeface="Lato"/>
                <a:sym typeface="Lato"/>
              </a:defRPr>
            </a:lvl7pPr>
            <a:lvl8pPr lvl="7" algn="ctr">
              <a:lnSpc>
                <a:spcPct val="100000"/>
              </a:lnSpc>
              <a:spcBef>
                <a:spcPts val="0"/>
              </a:spcBef>
              <a:spcAft>
                <a:spcPts val="0"/>
              </a:spcAft>
              <a:buSzPts val="10000"/>
              <a:buFont typeface="Lato"/>
              <a:buNone/>
              <a:defRPr sz="10000">
                <a:latin typeface="Lato"/>
                <a:ea typeface="Lato"/>
                <a:cs typeface="Lato"/>
                <a:sym typeface="Lato"/>
              </a:defRPr>
            </a:lvl8pPr>
            <a:lvl9pPr lvl="8" algn="ctr">
              <a:lnSpc>
                <a:spcPct val="100000"/>
              </a:lnSpc>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26"/>
          <p:cNvSpPr txBox="1"/>
          <p:nvPr>
            <p:ph idx="1" type="body"/>
          </p:nvPr>
        </p:nvSpPr>
        <p:spPr>
          <a:xfrm>
            <a:off x="311700" y="29194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2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1pPr>
            <a:lvl2pPr lvl="1"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2pPr>
            <a:lvl3pPr lvl="2"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3pPr>
            <a:lvl4pPr lvl="3"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4pPr>
            <a:lvl5pPr lvl="4"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5pPr>
            <a:lvl6pPr lvl="5"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6pPr>
            <a:lvl7pPr lvl="6"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7pPr>
            <a:lvl8pPr lvl="7"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8pPr>
            <a:lvl9pPr lvl="8"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1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7.jp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idx="1" type="subTitle"/>
          </p:nvPr>
        </p:nvSpPr>
        <p:spPr>
          <a:xfrm>
            <a:off x="3096375" y="3266927"/>
            <a:ext cx="2951400" cy="453000"/>
          </a:xfrm>
          <a:prstGeom prst="rect">
            <a:avLst/>
          </a:prstGeom>
          <a:noFill/>
          <a:ln>
            <a:noFill/>
          </a:ln>
        </p:spPr>
        <p:txBody>
          <a:bodyPr anchorCtr="0" anchor="b" bIns="91425" lIns="91425" spcFirstLastPara="1" rIns="91425" wrap="square" tIns="91425">
            <a:normAutofit lnSpcReduction="10000"/>
          </a:bodyPr>
          <a:lstStyle/>
          <a:p>
            <a:pPr indent="0" lvl="0" marL="0" rtl="0" algn="ctr">
              <a:lnSpc>
                <a:spcPct val="100000"/>
              </a:lnSpc>
              <a:spcBef>
                <a:spcPts val="0"/>
              </a:spcBef>
              <a:spcAft>
                <a:spcPts val="0"/>
              </a:spcAft>
              <a:buSzPts val="1800"/>
              <a:buNone/>
            </a:pPr>
            <a:r>
              <a:rPr lang="es">
                <a:latin typeface="Lato"/>
                <a:ea typeface="Lato"/>
                <a:cs typeface="Lato"/>
                <a:sym typeface="Lato"/>
              </a:rPr>
              <a:t>SafePet</a:t>
            </a:r>
            <a:endParaRPr>
              <a:latin typeface="Lato"/>
              <a:ea typeface="Lato"/>
              <a:cs typeface="Lato"/>
              <a:sym typeface="Lato"/>
            </a:endParaRPr>
          </a:p>
        </p:txBody>
      </p:sp>
      <p:pic>
        <p:nvPicPr>
          <p:cNvPr id="60" name="Google Shape;60;p1" title="icon-only.png"/>
          <p:cNvPicPr preferRelativeResize="0"/>
          <p:nvPr/>
        </p:nvPicPr>
        <p:blipFill rotWithShape="1">
          <a:blip r:embed="rId3">
            <a:alphaModFix/>
          </a:blip>
          <a:srcRect b="0" l="0" r="0" t="0"/>
          <a:stretch/>
        </p:blipFill>
        <p:spPr>
          <a:xfrm>
            <a:off x="3592996" y="1270212"/>
            <a:ext cx="1958175" cy="1958175"/>
          </a:xfrm>
          <a:prstGeom prst="rect">
            <a:avLst/>
          </a:prstGeom>
          <a:noFill/>
          <a:ln>
            <a:noFill/>
          </a:ln>
        </p:spPr>
      </p:pic>
      <p:sp>
        <p:nvSpPr>
          <p:cNvPr id="61" name="Google Shape;61;p1"/>
          <p:cNvSpPr txBox="1"/>
          <p:nvPr>
            <p:ph idx="1" type="subTitle"/>
          </p:nvPr>
        </p:nvSpPr>
        <p:spPr>
          <a:xfrm>
            <a:off x="3096300" y="3623827"/>
            <a:ext cx="2951400" cy="4530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1800"/>
              <a:buNone/>
            </a:pPr>
            <a:r>
              <a:rPr i="1" lang="es" sz="1000"/>
              <a:t>Francisca Espinosa, Felipe González</a:t>
            </a:r>
            <a:endParaRPr i="1"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Equipo</a:t>
            </a:r>
            <a:endParaRPr/>
          </a:p>
        </p:txBody>
      </p:sp>
      <p:sp>
        <p:nvSpPr>
          <p:cNvPr id="67" name="Google Shape;67;p2"/>
          <p:cNvSpPr txBox="1"/>
          <p:nvPr>
            <p:ph idx="1" type="body"/>
          </p:nvPr>
        </p:nvSpPr>
        <p:spPr>
          <a:xfrm>
            <a:off x="311700" y="3086100"/>
            <a:ext cx="4260300" cy="905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15000"/>
              </a:lnSpc>
              <a:spcBef>
                <a:spcPts val="0"/>
              </a:spcBef>
              <a:spcAft>
                <a:spcPts val="0"/>
              </a:spcAft>
              <a:buSzPct val="88452"/>
              <a:buNone/>
            </a:pPr>
            <a:r>
              <a:rPr b="1" lang="es" sz="2200"/>
              <a:t>Francisca Espinosa</a:t>
            </a:r>
            <a:endParaRPr b="1" sz="2200"/>
          </a:p>
          <a:p>
            <a:pPr indent="0" lvl="0" marL="0" rtl="0" algn="ctr">
              <a:lnSpc>
                <a:spcPct val="115000"/>
              </a:lnSpc>
              <a:spcBef>
                <a:spcPts val="1200"/>
              </a:spcBef>
              <a:spcAft>
                <a:spcPts val="0"/>
              </a:spcAft>
              <a:buSzPct val="108108"/>
              <a:buNone/>
            </a:pPr>
            <a:r>
              <a:rPr lang="es"/>
              <a:t>Scrum Master | Desarrollo | QA</a:t>
            </a:r>
            <a:endParaRPr/>
          </a:p>
        </p:txBody>
      </p:sp>
      <p:sp>
        <p:nvSpPr>
          <p:cNvPr id="68" name="Google Shape;68;p2"/>
          <p:cNvSpPr txBox="1"/>
          <p:nvPr>
            <p:ph idx="1" type="body"/>
          </p:nvPr>
        </p:nvSpPr>
        <p:spPr>
          <a:xfrm>
            <a:off x="4572000" y="3086100"/>
            <a:ext cx="4260300" cy="905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15000"/>
              </a:lnSpc>
              <a:spcBef>
                <a:spcPts val="0"/>
              </a:spcBef>
              <a:spcAft>
                <a:spcPts val="0"/>
              </a:spcAft>
              <a:buSzPct val="88452"/>
              <a:buNone/>
            </a:pPr>
            <a:r>
              <a:rPr b="1" lang="es" sz="2200"/>
              <a:t>Felipe González</a:t>
            </a:r>
            <a:endParaRPr b="1" sz="2200"/>
          </a:p>
          <a:p>
            <a:pPr indent="0" lvl="0" marL="0" rtl="0" algn="ctr">
              <a:lnSpc>
                <a:spcPct val="115000"/>
              </a:lnSpc>
              <a:spcBef>
                <a:spcPts val="1200"/>
              </a:spcBef>
              <a:spcAft>
                <a:spcPts val="0"/>
              </a:spcAft>
              <a:buSzPct val="108108"/>
              <a:buNone/>
            </a:pPr>
            <a:r>
              <a:rPr lang="es"/>
              <a:t>Product Owner | Desarrollo | QA</a:t>
            </a:r>
            <a:endParaRPr/>
          </a:p>
        </p:txBody>
      </p:sp>
      <p:sp>
        <p:nvSpPr>
          <p:cNvPr id="69" name="Google Shape;69;p2"/>
          <p:cNvSpPr/>
          <p:nvPr/>
        </p:nvSpPr>
        <p:spPr>
          <a:xfrm>
            <a:off x="1748400" y="1615500"/>
            <a:ext cx="1386900" cy="1386900"/>
          </a:xfrm>
          <a:prstGeom prst="ellipse">
            <a:avLst/>
          </a:prstGeom>
          <a:blipFill rotWithShape="1">
            <a:blip r:embed="rId3">
              <a:alphaModFix/>
            </a:blip>
            <a:stretch>
              <a:fillRect b="0" l="0" r="0" t="0"/>
            </a:stretch>
          </a:blip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pic>
        <p:nvPicPr>
          <p:cNvPr id="70" name="Google Shape;70;p2" title="mev2.jpg"/>
          <p:cNvPicPr preferRelativeResize="0"/>
          <p:nvPr/>
        </p:nvPicPr>
        <p:blipFill rotWithShape="1">
          <a:blip r:embed="rId4">
            <a:alphaModFix/>
          </a:blip>
          <a:srcRect b="0" l="0" r="0" t="0"/>
          <a:stretch/>
        </p:blipFill>
        <p:spPr>
          <a:xfrm>
            <a:off x="6008700" y="1615500"/>
            <a:ext cx="1386900" cy="1386900"/>
          </a:xfrm>
          <a:prstGeom prst="ellipse">
            <a:avLst/>
          </a:prstGeom>
          <a:noFill/>
          <a:ln>
            <a:noFill/>
          </a:ln>
        </p:spPr>
      </p:pic>
      <p:grpSp>
        <p:nvGrpSpPr>
          <p:cNvPr id="71" name="Google Shape;71;p2"/>
          <p:cNvGrpSpPr/>
          <p:nvPr/>
        </p:nvGrpSpPr>
        <p:grpSpPr>
          <a:xfrm>
            <a:off x="8479350" y="4455019"/>
            <a:ext cx="577800" cy="656106"/>
            <a:chOff x="8479350" y="4455019"/>
            <a:chExt cx="577800" cy="656106"/>
          </a:xfrm>
        </p:grpSpPr>
        <p:pic>
          <p:nvPicPr>
            <p:cNvPr id="72" name="Google Shape;72;p2" title="icon-only.png"/>
            <p:cNvPicPr preferRelativeResize="0"/>
            <p:nvPr/>
          </p:nvPicPr>
          <p:blipFill rotWithShape="1">
            <a:blip r:embed="rId5">
              <a:alphaModFix amt="40000"/>
            </a:blip>
            <a:srcRect b="0" l="0" r="0" t="0"/>
            <a:stretch/>
          </p:blipFill>
          <p:spPr>
            <a:xfrm>
              <a:off x="8517900" y="4455019"/>
              <a:ext cx="500700" cy="500700"/>
            </a:xfrm>
            <a:prstGeom prst="rect">
              <a:avLst/>
            </a:prstGeom>
            <a:noFill/>
            <a:ln>
              <a:noFill/>
            </a:ln>
          </p:spPr>
        </p:pic>
        <p:sp>
          <p:nvSpPr>
            <p:cNvPr id="73" name="Google Shape;73;p2"/>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Contexto</a:t>
            </a:r>
            <a:endParaRPr/>
          </a:p>
        </p:txBody>
      </p:sp>
      <p:sp>
        <p:nvSpPr>
          <p:cNvPr id="79" name="Google Shape;79;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b="1" lang="es"/>
              <a:t>¿Cuál es el problema?</a:t>
            </a:r>
            <a:endParaRPr b="1"/>
          </a:p>
          <a:p>
            <a:pPr indent="0" lvl="0" marL="0" rtl="0" algn="l">
              <a:lnSpc>
                <a:spcPct val="115000"/>
              </a:lnSpc>
              <a:spcBef>
                <a:spcPts val="1200"/>
              </a:spcBef>
              <a:spcAft>
                <a:spcPts val="0"/>
              </a:spcAft>
              <a:buSzPct val="117647"/>
              <a:buNone/>
            </a:pPr>
            <a:r>
              <a:rPr lang="es"/>
              <a:t>La desprotección ante el extravío en un mercado masivo. En Chile existen 12,5 millones de mascotas con dueño, pero se estima que 350.000 se extravían anualmente. Debido a que el 70% no cuenta con registro digital efectivo, los métodos de búsqueda actuales (carteles y redes sociales) resultan ineficientes, provocando que cerca del 30% de estas mascotas nunca regrese a su hogar.</a:t>
            </a:r>
            <a:endParaRPr b="1"/>
          </a:p>
          <a:p>
            <a:pPr indent="0" lvl="0" marL="0" rtl="0" algn="l">
              <a:lnSpc>
                <a:spcPct val="115000"/>
              </a:lnSpc>
              <a:spcBef>
                <a:spcPts val="1200"/>
              </a:spcBef>
              <a:spcAft>
                <a:spcPts val="0"/>
              </a:spcAft>
              <a:buSzPct val="117647"/>
              <a:buNone/>
            </a:pPr>
            <a:r>
              <a:rPr b="1" lang="es"/>
              <a:t>¿Cómo lo proponemos resolver?</a:t>
            </a:r>
            <a:endParaRPr b="1"/>
          </a:p>
          <a:p>
            <a:pPr indent="0" lvl="0" marL="0" rtl="0" algn="l">
              <a:lnSpc>
                <a:spcPct val="115000"/>
              </a:lnSpc>
              <a:spcBef>
                <a:spcPts val="1200"/>
              </a:spcBef>
              <a:spcAft>
                <a:spcPts val="0"/>
              </a:spcAft>
              <a:buSzPct val="117647"/>
              <a:buNone/>
            </a:pPr>
            <a:r>
              <a:rPr lang="es"/>
              <a:t>Una plataforma de geolocalización colaborativa que digitaliza la búsqueda. Al no depender de la lectura de un chip físico (que requiere un veterinario), nuestra app conecta inmediatamente el reporte de extravío con la comunidad cercana, reduciendo el tiempo de respuesta de días a minutos.</a:t>
            </a:r>
            <a:endParaRPr/>
          </a:p>
          <a:p>
            <a:pPr indent="0" lvl="0" marL="0" rtl="0" algn="l">
              <a:lnSpc>
                <a:spcPct val="115000"/>
              </a:lnSpc>
              <a:spcBef>
                <a:spcPts val="1200"/>
              </a:spcBef>
              <a:spcAft>
                <a:spcPts val="1200"/>
              </a:spcAft>
              <a:buSzPct val="117647"/>
              <a:buNone/>
            </a:pPr>
            <a:r>
              <a:t/>
            </a:r>
            <a:endParaRPr/>
          </a:p>
        </p:txBody>
      </p:sp>
      <p:grpSp>
        <p:nvGrpSpPr>
          <p:cNvPr id="80" name="Google Shape;80;p3"/>
          <p:cNvGrpSpPr/>
          <p:nvPr/>
        </p:nvGrpSpPr>
        <p:grpSpPr>
          <a:xfrm>
            <a:off x="8479350" y="4455019"/>
            <a:ext cx="577800" cy="656106"/>
            <a:chOff x="8479350" y="4455019"/>
            <a:chExt cx="577800" cy="656106"/>
          </a:xfrm>
        </p:grpSpPr>
        <p:pic>
          <p:nvPicPr>
            <p:cNvPr id="81" name="Google Shape;81;p3"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82" name="Google Shape;82;p3"/>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txBox="1"/>
          <p:nvPr>
            <p:ph type="title"/>
          </p:nvPr>
        </p:nvSpPr>
        <p:spPr>
          <a:xfrm>
            <a:off x="246075" y="40980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Objetivo General </a:t>
            </a:r>
            <a:endParaRPr/>
          </a:p>
        </p:txBody>
      </p:sp>
      <p:sp>
        <p:nvSpPr>
          <p:cNvPr id="88" name="Google Shape;88;p4"/>
          <p:cNvSpPr txBox="1"/>
          <p:nvPr>
            <p:ph idx="1" type="body"/>
          </p:nvPr>
        </p:nvSpPr>
        <p:spPr>
          <a:xfrm>
            <a:off x="311700" y="1152475"/>
            <a:ext cx="8520600" cy="1642500"/>
          </a:xfrm>
          <a:prstGeom prst="rect">
            <a:avLst/>
          </a:prstGeom>
          <a:noFill/>
          <a:ln>
            <a:noFill/>
          </a:ln>
        </p:spPr>
        <p:txBody>
          <a:bodyPr anchorCtr="0" anchor="t" bIns="91425" lIns="91425" spcFirstLastPara="1" rIns="91425" wrap="square" tIns="91425">
            <a:normAutofit/>
          </a:bodyPr>
          <a:lstStyle/>
          <a:p>
            <a:pPr indent="0" lvl="0" marL="0" rtl="0" algn="just">
              <a:lnSpc>
                <a:spcPct val="107916"/>
              </a:lnSpc>
              <a:spcBef>
                <a:spcPts val="0"/>
              </a:spcBef>
              <a:spcAft>
                <a:spcPts val="0"/>
              </a:spcAft>
              <a:buSzPts val="1800"/>
              <a:buNone/>
            </a:pPr>
            <a:r>
              <a:rPr i="1" lang="es" sz="1500"/>
              <a:t>Nuestro objetivo general es optimizar el ecosistema de recuperación de mascotas en Chile, desarrollando una solución tecnológica de geolocalización colaborativa que reduzca drásticamente los tiempos de búsqueda y aumente la tasa de reencuentro efectiva entre dueños y animales extraviados.</a:t>
            </a:r>
            <a:endParaRPr i="1" sz="1500"/>
          </a:p>
          <a:p>
            <a:pPr indent="0" lvl="0" marL="0" rtl="0" algn="just">
              <a:lnSpc>
                <a:spcPct val="107916"/>
              </a:lnSpc>
              <a:spcBef>
                <a:spcPts val="800"/>
              </a:spcBef>
              <a:spcAft>
                <a:spcPts val="800"/>
              </a:spcAft>
              <a:buSzPts val="1800"/>
              <a:buNone/>
            </a:pPr>
            <a:r>
              <a:t/>
            </a:r>
            <a:endParaRPr b="1"/>
          </a:p>
        </p:txBody>
      </p:sp>
      <p:sp>
        <p:nvSpPr>
          <p:cNvPr id="89" name="Google Shape;89;p4"/>
          <p:cNvSpPr txBox="1"/>
          <p:nvPr/>
        </p:nvSpPr>
        <p:spPr>
          <a:xfrm>
            <a:off x="348600" y="2210150"/>
            <a:ext cx="7918500" cy="6156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 sz="2800" u="none" cap="none" strike="noStrike">
                <a:solidFill>
                  <a:schemeClr val="dk1"/>
                </a:solidFill>
                <a:latin typeface="Playfair Display"/>
                <a:ea typeface="Playfair Display"/>
                <a:cs typeface="Playfair Display"/>
                <a:sym typeface="Playfair Display"/>
              </a:rPr>
              <a:t>Objetivos específicos</a:t>
            </a:r>
            <a:endParaRPr b="1" i="0" sz="2800" u="none" cap="none" strike="noStrike">
              <a:solidFill>
                <a:schemeClr val="dk1"/>
              </a:solidFill>
              <a:latin typeface="Playfair Display"/>
              <a:ea typeface="Playfair Display"/>
              <a:cs typeface="Playfair Display"/>
              <a:sym typeface="Playfair Display"/>
            </a:endParaRPr>
          </a:p>
        </p:txBody>
      </p:sp>
      <p:sp>
        <p:nvSpPr>
          <p:cNvPr id="90" name="Google Shape;90;p4"/>
          <p:cNvSpPr txBox="1"/>
          <p:nvPr/>
        </p:nvSpPr>
        <p:spPr>
          <a:xfrm>
            <a:off x="147650" y="2941200"/>
            <a:ext cx="9080100" cy="2054700"/>
          </a:xfrm>
          <a:prstGeom prst="rect">
            <a:avLst/>
          </a:prstGeom>
          <a:noFill/>
          <a:ln>
            <a:noFill/>
          </a:ln>
        </p:spPr>
        <p:txBody>
          <a:bodyPr anchorCtr="0" anchor="t" bIns="91425" lIns="91425" spcFirstLastPara="1" rIns="91425" wrap="square" tIns="91425">
            <a:spAutoFit/>
          </a:bodyPr>
          <a:lstStyle/>
          <a:p>
            <a:pPr indent="-317500" lvl="0" marL="457200" marR="0" rtl="0" algn="just">
              <a:lnSpc>
                <a:spcPct val="107916"/>
              </a:lnSpc>
              <a:spcBef>
                <a:spcPts val="0"/>
              </a:spcBef>
              <a:spcAft>
                <a:spcPts val="0"/>
              </a:spcAft>
              <a:buClr>
                <a:schemeClr val="dk2"/>
              </a:buClr>
              <a:buSzPts val="1400"/>
              <a:buFont typeface="Lato"/>
              <a:buChar char="●"/>
            </a:pPr>
            <a:r>
              <a:rPr b="0" i="1" lang="es" sz="1400" u="none" cap="none" strike="noStrike">
                <a:solidFill>
                  <a:schemeClr val="dk2"/>
                </a:solidFill>
                <a:latin typeface="Lato"/>
                <a:ea typeface="Lato"/>
                <a:cs typeface="Lato"/>
                <a:sym typeface="Lato"/>
              </a:rPr>
              <a:t>Reducir en un 40% el tiempo de búsqueda actual mediante alertas inmediatas a usuarios en un radio cercano.</a:t>
            </a:r>
            <a:endParaRPr b="0" i="1" sz="1400" u="none" cap="none" strike="noStrike">
              <a:solidFill>
                <a:schemeClr val="dk2"/>
              </a:solidFill>
              <a:latin typeface="Lato"/>
              <a:ea typeface="Lato"/>
              <a:cs typeface="Lato"/>
              <a:sym typeface="Lato"/>
            </a:endParaRPr>
          </a:p>
          <a:p>
            <a:pPr indent="-317500" lvl="0" marL="457200" marR="0" rtl="0" algn="just">
              <a:lnSpc>
                <a:spcPct val="107916"/>
              </a:lnSpc>
              <a:spcBef>
                <a:spcPts val="0"/>
              </a:spcBef>
              <a:spcAft>
                <a:spcPts val="0"/>
              </a:spcAft>
              <a:buClr>
                <a:schemeClr val="dk2"/>
              </a:buClr>
              <a:buSzPts val="1400"/>
              <a:buFont typeface="Lato"/>
              <a:buChar char="●"/>
            </a:pPr>
            <a:r>
              <a:rPr b="0" i="1" lang="es" sz="1400" u="none" cap="none" strike="noStrike">
                <a:solidFill>
                  <a:schemeClr val="dk2"/>
                </a:solidFill>
                <a:latin typeface="Lato"/>
                <a:ea typeface="Lato"/>
                <a:cs typeface="Lato"/>
                <a:sym typeface="Lato"/>
              </a:rPr>
              <a:t>Incrementar la tasa de recuperación por sobre el 30%  facilitando la identificación con códigos QR.</a:t>
            </a:r>
            <a:endParaRPr b="0" i="1" sz="1400" u="none" cap="none" strike="noStrike">
              <a:solidFill>
                <a:schemeClr val="dk2"/>
              </a:solidFill>
              <a:latin typeface="Lato"/>
              <a:ea typeface="Lato"/>
              <a:cs typeface="Lato"/>
              <a:sym typeface="Lato"/>
            </a:endParaRPr>
          </a:p>
          <a:p>
            <a:pPr indent="-317500" lvl="0" marL="457200" marR="0" rtl="0" algn="just">
              <a:lnSpc>
                <a:spcPct val="107916"/>
              </a:lnSpc>
              <a:spcBef>
                <a:spcPts val="0"/>
              </a:spcBef>
              <a:spcAft>
                <a:spcPts val="0"/>
              </a:spcAft>
              <a:buClr>
                <a:schemeClr val="dk2"/>
              </a:buClr>
              <a:buSzPts val="1400"/>
              <a:buFont typeface="Lato"/>
              <a:buChar char="●"/>
            </a:pPr>
            <a:r>
              <a:rPr b="0" i="1" lang="es" sz="1400" u="none" cap="none" strike="noStrike">
                <a:solidFill>
                  <a:schemeClr val="dk2"/>
                </a:solidFill>
                <a:latin typeface="Lato"/>
                <a:ea typeface="Lato"/>
                <a:cs typeface="Lato"/>
                <a:sym typeface="Lato"/>
              </a:rPr>
              <a:t>Centralizar reportes de extravío y hallazgo en un mapa interactivo, eliminando la dispersión de redes sociales.</a:t>
            </a:r>
            <a:endParaRPr b="0" i="1" sz="1400" u="none" cap="none" strike="noStrike">
              <a:solidFill>
                <a:schemeClr val="dk2"/>
              </a:solidFill>
              <a:latin typeface="Lato"/>
              <a:ea typeface="Lato"/>
              <a:cs typeface="Lato"/>
              <a:sym typeface="Lato"/>
            </a:endParaRPr>
          </a:p>
          <a:p>
            <a:pPr indent="-317500" lvl="0" marL="457200" marR="0" rtl="0" algn="just">
              <a:lnSpc>
                <a:spcPct val="107916"/>
              </a:lnSpc>
              <a:spcBef>
                <a:spcPts val="0"/>
              </a:spcBef>
              <a:spcAft>
                <a:spcPts val="0"/>
              </a:spcAft>
              <a:buClr>
                <a:schemeClr val="dk2"/>
              </a:buClr>
              <a:buSzPts val="1400"/>
              <a:buFont typeface="Lato"/>
              <a:buChar char="●"/>
            </a:pPr>
            <a:r>
              <a:rPr b="0" i="1" lang="es" sz="1400" u="none" cap="none" strike="noStrike">
                <a:solidFill>
                  <a:schemeClr val="dk2"/>
                </a:solidFill>
                <a:latin typeface="Lato"/>
                <a:ea typeface="Lato"/>
                <a:cs typeface="Lato"/>
                <a:sym typeface="Lato"/>
              </a:rPr>
              <a:t>Garantizar la privacidad del usuario mediante un sistema de chat seguro que evita exponer datos personales.</a:t>
            </a:r>
            <a:endParaRPr b="0" i="1" sz="1400" u="none" cap="none" strike="noStrike">
              <a:solidFill>
                <a:schemeClr val="dk2"/>
              </a:solidFill>
              <a:latin typeface="Lato"/>
              <a:ea typeface="Lato"/>
              <a:cs typeface="Lato"/>
              <a:sym typeface="Lato"/>
            </a:endParaRPr>
          </a:p>
          <a:p>
            <a:pPr indent="0" lvl="0" marL="457200" marR="0" rtl="0" algn="just">
              <a:lnSpc>
                <a:spcPct val="107916"/>
              </a:lnSpc>
              <a:spcBef>
                <a:spcPts val="800"/>
              </a:spcBef>
              <a:spcAft>
                <a:spcPts val="0"/>
              </a:spcAft>
              <a:buClr>
                <a:srgbClr val="000000"/>
              </a:buClr>
              <a:buSzPts val="1300"/>
              <a:buFont typeface="Arial"/>
              <a:buNone/>
            </a:pPr>
            <a:r>
              <a:t/>
            </a:r>
            <a:endParaRPr b="0" i="1" sz="1300" u="none" cap="none" strike="noStrike">
              <a:solidFill>
                <a:schemeClr val="dk2"/>
              </a:solidFill>
              <a:latin typeface="Lato"/>
              <a:ea typeface="Lato"/>
              <a:cs typeface="Lato"/>
              <a:sym typeface="Lato"/>
            </a:endParaRPr>
          </a:p>
          <a:p>
            <a:pPr indent="0" lvl="0" marL="457200" marR="0" rtl="0" algn="just">
              <a:lnSpc>
                <a:spcPct val="107916"/>
              </a:lnSpc>
              <a:spcBef>
                <a:spcPts val="800"/>
              </a:spcBef>
              <a:spcAft>
                <a:spcPts val="0"/>
              </a:spcAft>
              <a:buClr>
                <a:srgbClr val="000000"/>
              </a:buClr>
              <a:buSzPts val="1300"/>
              <a:buFont typeface="Arial"/>
              <a:buNone/>
            </a:pPr>
            <a:r>
              <a:t/>
            </a:r>
            <a:endParaRPr b="0" i="1" sz="1300" u="none" cap="none" strike="noStrike">
              <a:solidFill>
                <a:schemeClr val="dk2"/>
              </a:solidFill>
              <a:latin typeface="Lato"/>
              <a:ea typeface="Lato"/>
              <a:cs typeface="Lato"/>
              <a:sym typeface="Lato"/>
            </a:endParaRPr>
          </a:p>
          <a:p>
            <a:pPr indent="0" lvl="0" marL="457200" marR="0" rtl="0" algn="just">
              <a:lnSpc>
                <a:spcPct val="107916"/>
              </a:lnSpc>
              <a:spcBef>
                <a:spcPts val="800"/>
              </a:spcBef>
              <a:spcAft>
                <a:spcPts val="800"/>
              </a:spcAft>
              <a:buClr>
                <a:srgbClr val="000000"/>
              </a:buClr>
              <a:buSzPts val="1300"/>
              <a:buFont typeface="Arial"/>
              <a:buNone/>
            </a:pPr>
            <a:r>
              <a:t/>
            </a:r>
            <a:endParaRPr b="0" i="1" sz="1300" u="none" cap="none" strike="noStrike">
              <a:solidFill>
                <a:schemeClr val="dk2"/>
              </a:solidFill>
              <a:latin typeface="Lato"/>
              <a:ea typeface="Lato"/>
              <a:cs typeface="Lato"/>
              <a:sym typeface="Lato"/>
            </a:endParaRPr>
          </a:p>
        </p:txBody>
      </p:sp>
      <p:grpSp>
        <p:nvGrpSpPr>
          <p:cNvPr id="91" name="Google Shape;91;p4"/>
          <p:cNvGrpSpPr/>
          <p:nvPr/>
        </p:nvGrpSpPr>
        <p:grpSpPr>
          <a:xfrm>
            <a:off x="8479350" y="4455019"/>
            <a:ext cx="577800" cy="656106"/>
            <a:chOff x="8479350" y="4455019"/>
            <a:chExt cx="577800" cy="656106"/>
          </a:xfrm>
        </p:grpSpPr>
        <p:pic>
          <p:nvPicPr>
            <p:cNvPr id="92" name="Google Shape;92;p4"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93" name="Google Shape;93;p4"/>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Funcionalidades Clave</a:t>
            </a:r>
            <a:endParaRPr/>
          </a:p>
        </p:txBody>
      </p:sp>
      <p:sp>
        <p:nvSpPr>
          <p:cNvPr id="99" name="Google Shape;99;p5"/>
          <p:cNvSpPr txBox="1"/>
          <p:nvPr>
            <p:ph idx="1" type="body"/>
          </p:nvPr>
        </p:nvSpPr>
        <p:spPr>
          <a:xfrm>
            <a:off x="311700" y="1152475"/>
            <a:ext cx="8520600" cy="35577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39569"/>
              <a:buNone/>
            </a:pPr>
            <a:r>
              <a:rPr b="1" lang="es"/>
              <a:t>Registro de Mascotas</a:t>
            </a:r>
            <a:r>
              <a:rPr lang="es"/>
              <a:t>: Almacenamiento y manejo de los datos de las mascotas.</a:t>
            </a:r>
            <a:endParaRPr/>
          </a:p>
          <a:p>
            <a:pPr indent="0" lvl="0" marL="0" rtl="0" algn="l">
              <a:lnSpc>
                <a:spcPct val="115000"/>
              </a:lnSpc>
              <a:spcBef>
                <a:spcPts val="1200"/>
              </a:spcBef>
              <a:spcAft>
                <a:spcPts val="0"/>
              </a:spcAft>
              <a:buSzPct val="39569"/>
              <a:buNone/>
            </a:pPr>
            <a:r>
              <a:rPr b="1" lang="es"/>
              <a:t>Reporte de Avistamiento</a:t>
            </a:r>
            <a:r>
              <a:rPr lang="es"/>
              <a:t>: Manejo de reportes hechos por usuarios al avistar un animal.</a:t>
            </a:r>
            <a:endParaRPr/>
          </a:p>
          <a:p>
            <a:pPr indent="0" lvl="0" marL="0" rtl="0" algn="l">
              <a:lnSpc>
                <a:spcPct val="115000"/>
              </a:lnSpc>
              <a:spcBef>
                <a:spcPts val="1200"/>
              </a:spcBef>
              <a:spcAft>
                <a:spcPts val="0"/>
              </a:spcAft>
              <a:buSzPct val="39569"/>
              <a:buNone/>
            </a:pPr>
            <a:r>
              <a:rPr b="1" lang="es"/>
              <a:t>Alertas de Extravío</a:t>
            </a:r>
            <a:r>
              <a:rPr lang="es"/>
              <a:t>: Manejo de alertas hechos por dueños al extraviar un animal.</a:t>
            </a:r>
            <a:endParaRPr/>
          </a:p>
          <a:p>
            <a:pPr indent="0" lvl="0" marL="0" rtl="0" algn="l">
              <a:lnSpc>
                <a:spcPct val="115000"/>
              </a:lnSpc>
              <a:spcBef>
                <a:spcPts val="1200"/>
              </a:spcBef>
              <a:spcAft>
                <a:spcPts val="0"/>
              </a:spcAft>
              <a:buSzPct val="39569"/>
              <a:buNone/>
            </a:pPr>
            <a:r>
              <a:rPr b="1" lang="es"/>
              <a:t>Puntos de Interés</a:t>
            </a:r>
            <a:r>
              <a:rPr lang="es"/>
              <a:t>: Muestra el mapa y puntos de interés, como veterinarias, sedes de fundaciones, refugios, etc.</a:t>
            </a:r>
            <a:endParaRPr/>
          </a:p>
          <a:p>
            <a:pPr indent="0" lvl="0" marL="0" rtl="0" algn="l">
              <a:lnSpc>
                <a:spcPct val="115000"/>
              </a:lnSpc>
              <a:spcBef>
                <a:spcPts val="1200"/>
              </a:spcBef>
              <a:spcAft>
                <a:spcPts val="0"/>
              </a:spcAft>
              <a:buSzPct val="39569"/>
              <a:buNone/>
            </a:pPr>
            <a:r>
              <a:rPr b="1" lang="es"/>
              <a:t>Geolocalización y Geofencing</a:t>
            </a:r>
            <a:r>
              <a:rPr lang="es"/>
              <a:t>: Maneja el rastreo de mascotas que tengan etiquetas GPS.</a:t>
            </a:r>
            <a:endParaRPr/>
          </a:p>
          <a:p>
            <a:pPr indent="0" lvl="0" marL="0" rtl="0" algn="l">
              <a:lnSpc>
                <a:spcPct val="115000"/>
              </a:lnSpc>
              <a:spcBef>
                <a:spcPts val="1200"/>
              </a:spcBef>
              <a:spcAft>
                <a:spcPts val="0"/>
              </a:spcAft>
              <a:buSzPct val="39569"/>
              <a:buNone/>
            </a:pPr>
            <a:r>
              <a:rPr b="1" lang="es"/>
              <a:t>Mensajería</a:t>
            </a:r>
            <a:r>
              <a:rPr lang="es"/>
              <a:t>: Maneja el envío y recepción de mensajes entre usuarios.</a:t>
            </a:r>
            <a:endParaRPr/>
          </a:p>
          <a:p>
            <a:pPr indent="0" lvl="0" marL="0" rtl="0" algn="l">
              <a:lnSpc>
                <a:spcPct val="115000"/>
              </a:lnSpc>
              <a:spcBef>
                <a:spcPts val="1200"/>
              </a:spcBef>
              <a:spcAft>
                <a:spcPts val="1200"/>
              </a:spcAft>
              <a:buSzPct val="39569"/>
              <a:buNone/>
            </a:pPr>
            <a:r>
              <a:rPr b="1" lang="es"/>
              <a:t>Noticias y Avisos</a:t>
            </a:r>
            <a:r>
              <a:rPr lang="es"/>
              <a:t>: Obtiene noticias desde fuentes selectas (fundaciones, refugios, etc.).</a:t>
            </a:r>
            <a:endParaRPr/>
          </a:p>
        </p:txBody>
      </p:sp>
      <p:grpSp>
        <p:nvGrpSpPr>
          <p:cNvPr id="100" name="Google Shape;100;p5"/>
          <p:cNvGrpSpPr/>
          <p:nvPr/>
        </p:nvGrpSpPr>
        <p:grpSpPr>
          <a:xfrm>
            <a:off x="8479350" y="4455019"/>
            <a:ext cx="577800" cy="656106"/>
            <a:chOff x="8479350" y="4455019"/>
            <a:chExt cx="577800" cy="656106"/>
          </a:xfrm>
        </p:grpSpPr>
        <p:pic>
          <p:nvPicPr>
            <p:cNvPr id="101" name="Google Shape;101;p5"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102" name="Google Shape;102;p5"/>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Alcances y Limitaciones del Proyecto</a:t>
            </a:r>
            <a:endParaRPr/>
          </a:p>
        </p:txBody>
      </p:sp>
      <p:sp>
        <p:nvSpPr>
          <p:cNvPr id="108" name="Google Shape;108;p6"/>
          <p:cNvSpPr txBox="1"/>
          <p:nvPr>
            <p:ph idx="1" type="body"/>
          </p:nvPr>
        </p:nvSpPr>
        <p:spPr>
          <a:xfrm>
            <a:off x="311700" y="1152475"/>
            <a:ext cx="4260300" cy="3557700"/>
          </a:xfrm>
          <a:prstGeom prst="rect">
            <a:avLst/>
          </a:prstGeom>
          <a:noFill/>
          <a:ln>
            <a:noFill/>
          </a:ln>
        </p:spPr>
        <p:txBody>
          <a:bodyPr anchorCtr="0" anchor="t" bIns="91425" lIns="91425" spcFirstLastPara="1" rIns="91425" wrap="square" tIns="91425">
            <a:normAutofit lnSpcReduction="20000"/>
          </a:bodyPr>
          <a:lstStyle/>
          <a:p>
            <a:pPr indent="0" lvl="0" marL="457200" rtl="0" algn="l">
              <a:lnSpc>
                <a:spcPct val="100000"/>
              </a:lnSpc>
              <a:spcBef>
                <a:spcPts val="0"/>
              </a:spcBef>
              <a:spcAft>
                <a:spcPts val="0"/>
              </a:spcAft>
              <a:buSzPts val="1800"/>
              <a:buNone/>
            </a:pPr>
            <a:r>
              <a:rPr b="1" i="1" lang="es" sz="1650"/>
              <a:t>Alcance:</a:t>
            </a:r>
            <a:endParaRPr b="1" i="1" sz="1650"/>
          </a:p>
          <a:p>
            <a:pPr indent="-333375" lvl="0" marL="457200" rtl="0" algn="l">
              <a:lnSpc>
                <a:spcPct val="100000"/>
              </a:lnSpc>
              <a:spcBef>
                <a:spcPts val="1000"/>
              </a:spcBef>
              <a:spcAft>
                <a:spcPts val="0"/>
              </a:spcAft>
              <a:buSzPts val="1650"/>
              <a:buChar char="●"/>
            </a:pPr>
            <a:r>
              <a:rPr lang="es" sz="1650"/>
              <a:t>App móvil basada en Web, mediante Capacitor.</a:t>
            </a:r>
            <a:endParaRPr sz="1650"/>
          </a:p>
          <a:p>
            <a:pPr indent="-333375" lvl="0" marL="457200" rtl="0" algn="l">
              <a:lnSpc>
                <a:spcPct val="100000"/>
              </a:lnSpc>
              <a:spcBef>
                <a:spcPts val="1000"/>
              </a:spcBef>
              <a:spcAft>
                <a:spcPts val="0"/>
              </a:spcAft>
              <a:buSzPts val="1650"/>
              <a:buChar char="●"/>
            </a:pPr>
            <a:r>
              <a:rPr lang="es" sz="1650"/>
              <a:t>Registro de usuarios y mascotas.</a:t>
            </a:r>
            <a:endParaRPr sz="1650"/>
          </a:p>
          <a:p>
            <a:pPr indent="-333375" lvl="0" marL="457200" rtl="0" algn="l">
              <a:lnSpc>
                <a:spcPct val="100000"/>
              </a:lnSpc>
              <a:spcBef>
                <a:spcPts val="1000"/>
              </a:spcBef>
              <a:spcAft>
                <a:spcPts val="0"/>
              </a:spcAft>
              <a:buSzPts val="1650"/>
              <a:buChar char="●"/>
            </a:pPr>
            <a:r>
              <a:rPr lang="es" sz="1650"/>
              <a:t>Reporte de mascotas extraviadas y avistamientos en mapa.</a:t>
            </a:r>
            <a:endParaRPr sz="1650"/>
          </a:p>
          <a:p>
            <a:pPr indent="-333375" lvl="0" marL="457200" rtl="0" algn="l">
              <a:lnSpc>
                <a:spcPct val="100000"/>
              </a:lnSpc>
              <a:spcBef>
                <a:spcPts val="1000"/>
              </a:spcBef>
              <a:spcAft>
                <a:spcPts val="0"/>
              </a:spcAft>
              <a:buSzPts val="1650"/>
              <a:buChar char="●"/>
            </a:pPr>
            <a:r>
              <a:rPr lang="es" sz="1650"/>
              <a:t>Lectura de códigos QR para identificar mascotas.</a:t>
            </a:r>
            <a:endParaRPr sz="1650"/>
          </a:p>
          <a:p>
            <a:pPr indent="-333375" lvl="0" marL="457200" rtl="0" algn="l">
              <a:lnSpc>
                <a:spcPct val="100000"/>
              </a:lnSpc>
              <a:spcBef>
                <a:spcPts val="1000"/>
              </a:spcBef>
              <a:spcAft>
                <a:spcPts val="0"/>
              </a:spcAft>
              <a:buSzPts val="1650"/>
              <a:buChar char="●"/>
            </a:pPr>
            <a:r>
              <a:rPr lang="es" sz="1650"/>
              <a:t>Mensajería básica entre dueño y persona que encuentra la mascota.</a:t>
            </a:r>
            <a:endParaRPr sz="1650"/>
          </a:p>
          <a:p>
            <a:pPr indent="-333375" lvl="0" marL="457200" rtl="0" algn="l">
              <a:lnSpc>
                <a:spcPct val="115000"/>
              </a:lnSpc>
              <a:spcBef>
                <a:spcPts val="1000"/>
              </a:spcBef>
              <a:spcAft>
                <a:spcPts val="1000"/>
              </a:spcAft>
              <a:buSzPts val="1650"/>
              <a:buChar char="●"/>
            </a:pPr>
            <a:r>
              <a:rPr lang="es" sz="1650"/>
              <a:t>Sistema de noticias y avisos en base a tenencia responsable.</a:t>
            </a:r>
            <a:endParaRPr b="1"/>
          </a:p>
        </p:txBody>
      </p:sp>
      <p:sp>
        <p:nvSpPr>
          <p:cNvPr id="109" name="Google Shape;109;p6"/>
          <p:cNvSpPr txBox="1"/>
          <p:nvPr>
            <p:ph idx="1" type="body"/>
          </p:nvPr>
        </p:nvSpPr>
        <p:spPr>
          <a:xfrm>
            <a:off x="4572000" y="1152475"/>
            <a:ext cx="4260300" cy="3557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b="1" i="1" lang="es" sz="1650"/>
              <a:t>Limitaciones :</a:t>
            </a:r>
            <a:endParaRPr sz="1650"/>
          </a:p>
          <a:p>
            <a:pPr indent="-333375" lvl="0" marL="457200" rtl="0" algn="l">
              <a:lnSpc>
                <a:spcPct val="100000"/>
              </a:lnSpc>
              <a:spcBef>
                <a:spcPts val="1000"/>
              </a:spcBef>
              <a:spcAft>
                <a:spcPts val="0"/>
              </a:spcAft>
              <a:buSzPts val="1650"/>
              <a:buChar char="●"/>
            </a:pPr>
            <a:r>
              <a:rPr lang="es" sz="1650"/>
              <a:t>Requiere conexión a internet</a:t>
            </a:r>
            <a:endParaRPr sz="1650"/>
          </a:p>
          <a:p>
            <a:pPr indent="-333375" lvl="0" marL="457200" rtl="0" algn="l">
              <a:lnSpc>
                <a:spcPct val="100000"/>
              </a:lnSpc>
              <a:spcBef>
                <a:spcPts val="1000"/>
              </a:spcBef>
              <a:spcAft>
                <a:spcPts val="1000"/>
              </a:spcAft>
              <a:buSzPts val="1650"/>
              <a:buChar char="●"/>
            </a:pPr>
            <a:r>
              <a:rPr lang="es" sz="1650"/>
              <a:t>Precisión de ubicación depende del dispositivo del usuario</a:t>
            </a:r>
            <a:endParaRPr sz="1650"/>
          </a:p>
        </p:txBody>
      </p:sp>
      <p:grpSp>
        <p:nvGrpSpPr>
          <p:cNvPr id="110" name="Google Shape;110;p6"/>
          <p:cNvGrpSpPr/>
          <p:nvPr/>
        </p:nvGrpSpPr>
        <p:grpSpPr>
          <a:xfrm>
            <a:off x="8479350" y="4455019"/>
            <a:ext cx="577800" cy="656106"/>
            <a:chOff x="8479350" y="4455019"/>
            <a:chExt cx="577800" cy="656106"/>
          </a:xfrm>
        </p:grpSpPr>
        <p:pic>
          <p:nvPicPr>
            <p:cNvPr id="111" name="Google Shape;111;p6"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112" name="Google Shape;112;p6"/>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Metodología Ágil </a:t>
            </a:r>
            <a:endParaRPr/>
          </a:p>
          <a:p>
            <a:pPr indent="0" lvl="0" marL="0" rtl="0" algn="l">
              <a:lnSpc>
                <a:spcPct val="100000"/>
              </a:lnSpc>
              <a:spcBef>
                <a:spcPts val="0"/>
              </a:spcBef>
              <a:spcAft>
                <a:spcPts val="0"/>
              </a:spcAft>
              <a:buSzPct val="111111"/>
              <a:buNone/>
            </a:pPr>
            <a:r>
              <a:t/>
            </a:r>
            <a:endParaRPr/>
          </a:p>
        </p:txBody>
      </p:sp>
      <p:sp>
        <p:nvSpPr>
          <p:cNvPr id="118" name="Google Shape;118;p7"/>
          <p:cNvSpPr txBox="1"/>
          <p:nvPr>
            <p:ph idx="1" type="body"/>
          </p:nvPr>
        </p:nvSpPr>
        <p:spPr>
          <a:xfrm>
            <a:off x="204600" y="1517825"/>
            <a:ext cx="8627700" cy="2649300"/>
          </a:xfrm>
          <a:prstGeom prst="rect">
            <a:avLst/>
          </a:prstGeom>
          <a:noFill/>
          <a:ln>
            <a:noFill/>
          </a:ln>
        </p:spPr>
        <p:txBody>
          <a:bodyPr anchorCtr="0" anchor="ctr" bIns="91425" lIns="91425" spcFirstLastPara="1" rIns="91425" wrap="square" tIns="91425">
            <a:normAutofit fontScale="77500" lnSpcReduction="20000"/>
          </a:bodyPr>
          <a:lstStyle/>
          <a:p>
            <a:pPr indent="0" lvl="0" marL="0" rtl="0" algn="l">
              <a:lnSpc>
                <a:spcPct val="115000"/>
              </a:lnSpc>
              <a:spcBef>
                <a:spcPts val="0"/>
              </a:spcBef>
              <a:spcAft>
                <a:spcPts val="0"/>
              </a:spcAft>
              <a:buSzPct val="117647"/>
              <a:buNone/>
            </a:pPr>
            <a:r>
              <a:rPr lang="es"/>
              <a:t>Estrategia de Desarrollo: Scrum Adoptamos un enfoque iterativo e incremental dividido en ciclos cortos (Sprints).</a:t>
            </a:r>
            <a:endParaRPr/>
          </a:p>
          <a:p>
            <a:pPr indent="0" lvl="0" marL="0" rtl="0" algn="l">
              <a:lnSpc>
                <a:spcPct val="115000"/>
              </a:lnSpc>
              <a:spcBef>
                <a:spcPts val="0"/>
              </a:spcBef>
              <a:spcAft>
                <a:spcPts val="0"/>
              </a:spcAft>
              <a:buSzPct val="117647"/>
              <a:buNone/>
            </a:pPr>
            <a:r>
              <a:t/>
            </a:r>
            <a:endParaRPr/>
          </a:p>
          <a:p>
            <a:pPr indent="0" lvl="0" marL="0" rtl="0" algn="l">
              <a:lnSpc>
                <a:spcPct val="115000"/>
              </a:lnSpc>
              <a:spcBef>
                <a:spcPts val="0"/>
              </a:spcBef>
              <a:spcAft>
                <a:spcPts val="0"/>
              </a:spcAft>
              <a:buSzPct val="117647"/>
              <a:buNone/>
            </a:pPr>
            <a:r>
              <a:rPr lang="es"/>
              <a:t> Esto nos permite:</a:t>
            </a:r>
            <a:endParaRPr/>
          </a:p>
          <a:p>
            <a:pPr indent="-317182" lvl="0" marL="457200" rtl="0" algn="l">
              <a:lnSpc>
                <a:spcPct val="115000"/>
              </a:lnSpc>
              <a:spcBef>
                <a:spcPts val="0"/>
              </a:spcBef>
              <a:spcAft>
                <a:spcPts val="0"/>
              </a:spcAft>
              <a:buSzPct val="100000"/>
              <a:buChar char="●"/>
            </a:pPr>
            <a:r>
              <a:rPr lang="es"/>
              <a:t>Lanzamiento Rápido (MVP): Priorizar las funciones críticas (geolocalización y alertas) para salir al mercado en el menor tiempo posible.</a:t>
            </a:r>
            <a:endParaRPr/>
          </a:p>
          <a:p>
            <a:pPr indent="-317182" lvl="0" marL="457200" rtl="0" algn="l">
              <a:lnSpc>
                <a:spcPct val="115000"/>
              </a:lnSpc>
              <a:spcBef>
                <a:spcPts val="0"/>
              </a:spcBef>
              <a:spcAft>
                <a:spcPts val="0"/>
              </a:spcAft>
              <a:buSzPct val="100000"/>
              <a:buChar char="●"/>
            </a:pPr>
            <a:r>
              <a:rPr lang="es"/>
              <a:t>Adaptabilidad: Ajustar la app basándonos en el feedback real de los primeros usuarios y asociaciones de mascotas.</a:t>
            </a:r>
            <a:endParaRPr/>
          </a:p>
          <a:p>
            <a:pPr indent="-317182" lvl="0" marL="457200" rtl="0" algn="l">
              <a:lnSpc>
                <a:spcPct val="115000"/>
              </a:lnSpc>
              <a:spcBef>
                <a:spcPts val="0"/>
              </a:spcBef>
              <a:spcAft>
                <a:spcPts val="0"/>
              </a:spcAft>
              <a:buSzPct val="163636"/>
              <a:buChar char="●"/>
            </a:pPr>
            <a:r>
              <a:rPr lang="es"/>
              <a:t>Reducción de Riesgos: Detectar fallos técnicos o de usabilidad en etapas tempranas, optimizando la inversión de desarrollo.</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1200"/>
              </a:spcAft>
              <a:buNone/>
            </a:pPr>
            <a:r>
              <a:t/>
            </a:r>
            <a:endParaRPr/>
          </a:p>
        </p:txBody>
      </p:sp>
      <p:grpSp>
        <p:nvGrpSpPr>
          <p:cNvPr id="119" name="Google Shape;119;p7"/>
          <p:cNvGrpSpPr/>
          <p:nvPr/>
        </p:nvGrpSpPr>
        <p:grpSpPr>
          <a:xfrm>
            <a:off x="8479350" y="4455019"/>
            <a:ext cx="577800" cy="656106"/>
            <a:chOff x="8479350" y="4455019"/>
            <a:chExt cx="577800" cy="656106"/>
          </a:xfrm>
        </p:grpSpPr>
        <p:pic>
          <p:nvPicPr>
            <p:cNvPr id="120" name="Google Shape;120;p7"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121" name="Google Shape;121;p7"/>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f1f6c57aa_0_3"/>
          <p:cNvSpPr txBox="1"/>
          <p:nvPr>
            <p:ph type="title"/>
          </p:nvPr>
        </p:nvSpPr>
        <p:spPr>
          <a:xfrm>
            <a:off x="311700" y="391350"/>
            <a:ext cx="42603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Flujo de Caja</a:t>
            </a:r>
            <a:endParaRPr/>
          </a:p>
          <a:p>
            <a:pPr indent="0" lvl="0" marL="0" rtl="0" algn="l">
              <a:lnSpc>
                <a:spcPct val="100000"/>
              </a:lnSpc>
              <a:spcBef>
                <a:spcPts val="0"/>
              </a:spcBef>
              <a:spcAft>
                <a:spcPts val="0"/>
              </a:spcAft>
              <a:buSzPct val="111111"/>
              <a:buNone/>
            </a:pPr>
            <a:r>
              <a:t/>
            </a:r>
            <a:endParaRPr/>
          </a:p>
        </p:txBody>
      </p:sp>
      <p:sp>
        <p:nvSpPr>
          <p:cNvPr id="127" name="Google Shape;127;g3af1f6c57aa_0_3"/>
          <p:cNvSpPr/>
          <p:nvPr/>
        </p:nvSpPr>
        <p:spPr>
          <a:xfrm>
            <a:off x="311875" y="1375475"/>
            <a:ext cx="2706900" cy="2247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300">
                <a:solidFill>
                  <a:schemeClr val="lt1"/>
                </a:solidFill>
                <a:latin typeface="Lato"/>
                <a:ea typeface="Lato"/>
                <a:cs typeface="Lato"/>
                <a:sym typeface="Lato"/>
              </a:rPr>
              <a:t>Antecedentes</a:t>
            </a:r>
            <a:endParaRPr b="1" sz="1300">
              <a:solidFill>
                <a:schemeClr val="lt1"/>
              </a:solidFill>
              <a:latin typeface="Lato"/>
              <a:ea typeface="Lato"/>
              <a:cs typeface="Lato"/>
              <a:sym typeface="Lato"/>
            </a:endParaRPr>
          </a:p>
        </p:txBody>
      </p:sp>
      <p:sp>
        <p:nvSpPr>
          <p:cNvPr id="128" name="Google Shape;128;g3af1f6c57aa_0_3"/>
          <p:cNvSpPr/>
          <p:nvPr/>
        </p:nvSpPr>
        <p:spPr>
          <a:xfrm>
            <a:off x="311800" y="1600188"/>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Presupuesto</a:t>
            </a:r>
            <a:endParaRPr i="1" sz="1300">
              <a:solidFill>
                <a:schemeClr val="lt1"/>
              </a:solidFill>
              <a:latin typeface="Lato"/>
              <a:ea typeface="Lato"/>
              <a:cs typeface="Lato"/>
              <a:sym typeface="Lato"/>
            </a:endParaRPr>
          </a:p>
        </p:txBody>
      </p:sp>
      <p:sp>
        <p:nvSpPr>
          <p:cNvPr id="129" name="Google Shape;129;g3af1f6c57aa_0_3"/>
          <p:cNvSpPr/>
          <p:nvPr/>
        </p:nvSpPr>
        <p:spPr>
          <a:xfrm>
            <a:off x="1950875" y="1600200"/>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$35.000.000</a:t>
            </a:r>
            <a:endParaRPr i="1" sz="1200">
              <a:solidFill>
                <a:schemeClr val="accent1"/>
              </a:solidFill>
              <a:latin typeface="Lato"/>
              <a:ea typeface="Lato"/>
              <a:cs typeface="Lato"/>
              <a:sym typeface="Lato"/>
            </a:endParaRPr>
          </a:p>
        </p:txBody>
      </p:sp>
      <p:sp>
        <p:nvSpPr>
          <p:cNvPr id="130" name="Google Shape;130;g3af1f6c57aa_0_3"/>
          <p:cNvSpPr/>
          <p:nvPr/>
        </p:nvSpPr>
        <p:spPr>
          <a:xfrm>
            <a:off x="311850" y="1824907"/>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Costo del Proyecto</a:t>
            </a:r>
            <a:endParaRPr i="1" sz="1300">
              <a:solidFill>
                <a:schemeClr val="lt1"/>
              </a:solidFill>
              <a:latin typeface="Lato"/>
              <a:ea typeface="Lato"/>
              <a:cs typeface="Lato"/>
              <a:sym typeface="Lato"/>
            </a:endParaRPr>
          </a:p>
        </p:txBody>
      </p:sp>
      <p:sp>
        <p:nvSpPr>
          <p:cNvPr id="131" name="Google Shape;131;g3af1f6c57aa_0_3"/>
          <p:cNvSpPr/>
          <p:nvPr/>
        </p:nvSpPr>
        <p:spPr>
          <a:xfrm>
            <a:off x="1951041" y="1824916"/>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$27.410.000</a:t>
            </a:r>
            <a:endParaRPr i="1" sz="1200">
              <a:solidFill>
                <a:schemeClr val="accent1"/>
              </a:solidFill>
              <a:latin typeface="Lato"/>
              <a:ea typeface="Lato"/>
              <a:cs typeface="Lato"/>
              <a:sym typeface="Lato"/>
            </a:endParaRPr>
          </a:p>
        </p:txBody>
      </p:sp>
      <p:sp>
        <p:nvSpPr>
          <p:cNvPr id="132" name="Google Shape;132;g3af1f6c57aa_0_3"/>
          <p:cNvSpPr/>
          <p:nvPr/>
        </p:nvSpPr>
        <p:spPr>
          <a:xfrm>
            <a:off x="311875" y="2049626"/>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Préstamo a Solicitar</a:t>
            </a:r>
            <a:endParaRPr i="1" sz="1300">
              <a:solidFill>
                <a:schemeClr val="lt1"/>
              </a:solidFill>
              <a:latin typeface="Lato"/>
              <a:ea typeface="Lato"/>
              <a:cs typeface="Lato"/>
              <a:sym typeface="Lato"/>
            </a:endParaRPr>
          </a:p>
        </p:txBody>
      </p:sp>
      <p:sp>
        <p:nvSpPr>
          <p:cNvPr id="133" name="Google Shape;133;g3af1f6c57aa_0_3"/>
          <p:cNvSpPr/>
          <p:nvPr/>
        </p:nvSpPr>
        <p:spPr>
          <a:xfrm>
            <a:off x="1951124" y="2049633"/>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$28.000.000</a:t>
            </a:r>
            <a:endParaRPr i="1" sz="1200">
              <a:solidFill>
                <a:schemeClr val="accent1"/>
              </a:solidFill>
              <a:latin typeface="Lato"/>
              <a:ea typeface="Lato"/>
              <a:cs typeface="Lato"/>
              <a:sym typeface="Lato"/>
            </a:endParaRPr>
          </a:p>
        </p:txBody>
      </p:sp>
      <p:sp>
        <p:nvSpPr>
          <p:cNvPr id="134" name="Google Shape;134;g3af1f6c57aa_0_3"/>
          <p:cNvSpPr/>
          <p:nvPr/>
        </p:nvSpPr>
        <p:spPr>
          <a:xfrm>
            <a:off x="311700" y="2499052"/>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Cuotas</a:t>
            </a:r>
            <a:endParaRPr i="1" sz="1300">
              <a:solidFill>
                <a:schemeClr val="lt1"/>
              </a:solidFill>
              <a:latin typeface="Lato"/>
              <a:ea typeface="Lato"/>
              <a:cs typeface="Lato"/>
              <a:sym typeface="Lato"/>
            </a:endParaRPr>
          </a:p>
        </p:txBody>
      </p:sp>
      <p:sp>
        <p:nvSpPr>
          <p:cNvPr id="135" name="Google Shape;135;g3af1f6c57aa_0_3"/>
          <p:cNvSpPr/>
          <p:nvPr/>
        </p:nvSpPr>
        <p:spPr>
          <a:xfrm>
            <a:off x="1950961" y="2499056"/>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12</a:t>
            </a:r>
            <a:endParaRPr i="1" sz="1200">
              <a:solidFill>
                <a:schemeClr val="accent1"/>
              </a:solidFill>
              <a:latin typeface="Lato"/>
              <a:ea typeface="Lato"/>
              <a:cs typeface="Lato"/>
              <a:sym typeface="Lato"/>
            </a:endParaRPr>
          </a:p>
        </p:txBody>
      </p:sp>
      <p:sp>
        <p:nvSpPr>
          <p:cNvPr id="136" name="Google Shape;136;g3af1f6c57aa_0_3"/>
          <p:cNvSpPr/>
          <p:nvPr/>
        </p:nvSpPr>
        <p:spPr>
          <a:xfrm>
            <a:off x="311688" y="2723772"/>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Costo Total Crédito</a:t>
            </a:r>
            <a:endParaRPr i="1" sz="1300">
              <a:solidFill>
                <a:schemeClr val="lt1"/>
              </a:solidFill>
              <a:latin typeface="Lato"/>
              <a:ea typeface="Lato"/>
              <a:cs typeface="Lato"/>
              <a:sym typeface="Lato"/>
            </a:endParaRPr>
          </a:p>
        </p:txBody>
      </p:sp>
      <p:sp>
        <p:nvSpPr>
          <p:cNvPr id="137" name="Google Shape;137;g3af1f6c57aa_0_3"/>
          <p:cNvSpPr/>
          <p:nvPr/>
        </p:nvSpPr>
        <p:spPr>
          <a:xfrm>
            <a:off x="1950951" y="2723773"/>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$32.446.044</a:t>
            </a:r>
            <a:endParaRPr i="1" sz="1200">
              <a:solidFill>
                <a:schemeClr val="accent1"/>
              </a:solidFill>
              <a:latin typeface="Lato"/>
              <a:ea typeface="Lato"/>
              <a:cs typeface="Lato"/>
              <a:sym typeface="Lato"/>
            </a:endParaRPr>
          </a:p>
        </p:txBody>
      </p:sp>
      <p:sp>
        <p:nvSpPr>
          <p:cNvPr id="138" name="Google Shape;138;g3af1f6c57aa_0_3"/>
          <p:cNvSpPr/>
          <p:nvPr/>
        </p:nvSpPr>
        <p:spPr>
          <a:xfrm>
            <a:off x="311700" y="2948492"/>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Valor Cuota</a:t>
            </a:r>
            <a:endParaRPr i="1" sz="1300">
              <a:solidFill>
                <a:schemeClr val="lt1"/>
              </a:solidFill>
              <a:latin typeface="Lato"/>
              <a:ea typeface="Lato"/>
              <a:cs typeface="Lato"/>
              <a:sym typeface="Lato"/>
            </a:endParaRPr>
          </a:p>
        </p:txBody>
      </p:sp>
      <p:sp>
        <p:nvSpPr>
          <p:cNvPr id="139" name="Google Shape;139;g3af1f6c57aa_0_3"/>
          <p:cNvSpPr/>
          <p:nvPr/>
        </p:nvSpPr>
        <p:spPr>
          <a:xfrm>
            <a:off x="1950961" y="2948491"/>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$2.703.837</a:t>
            </a:r>
            <a:endParaRPr i="1" sz="1200">
              <a:solidFill>
                <a:schemeClr val="accent1"/>
              </a:solidFill>
              <a:latin typeface="Lato"/>
              <a:ea typeface="Lato"/>
              <a:cs typeface="Lato"/>
              <a:sym typeface="Lato"/>
            </a:endParaRPr>
          </a:p>
        </p:txBody>
      </p:sp>
      <p:sp>
        <p:nvSpPr>
          <p:cNvPr id="140" name="Google Shape;140;g3af1f6c57aa_0_3"/>
          <p:cNvSpPr/>
          <p:nvPr/>
        </p:nvSpPr>
        <p:spPr>
          <a:xfrm>
            <a:off x="311700" y="3173212"/>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Interés Bancario</a:t>
            </a:r>
            <a:endParaRPr i="1" sz="1300">
              <a:solidFill>
                <a:schemeClr val="lt1"/>
              </a:solidFill>
              <a:latin typeface="Lato"/>
              <a:ea typeface="Lato"/>
              <a:cs typeface="Lato"/>
              <a:sym typeface="Lato"/>
            </a:endParaRPr>
          </a:p>
        </p:txBody>
      </p:sp>
      <p:sp>
        <p:nvSpPr>
          <p:cNvPr id="141" name="Google Shape;141;g3af1f6c57aa_0_3"/>
          <p:cNvSpPr/>
          <p:nvPr/>
        </p:nvSpPr>
        <p:spPr>
          <a:xfrm>
            <a:off x="1950961" y="3173208"/>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$4.446.044</a:t>
            </a:r>
            <a:endParaRPr i="1" sz="1200">
              <a:solidFill>
                <a:schemeClr val="accent1"/>
              </a:solidFill>
              <a:latin typeface="Lato"/>
              <a:ea typeface="Lato"/>
              <a:cs typeface="Lato"/>
              <a:sym typeface="Lato"/>
            </a:endParaRPr>
          </a:p>
        </p:txBody>
      </p:sp>
      <p:sp>
        <p:nvSpPr>
          <p:cNvPr id="142" name="Google Shape;142;g3af1f6c57aa_0_3"/>
          <p:cNvSpPr/>
          <p:nvPr/>
        </p:nvSpPr>
        <p:spPr>
          <a:xfrm>
            <a:off x="311688" y="3397932"/>
            <a:ext cx="17808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Interés Anual</a:t>
            </a:r>
            <a:endParaRPr i="1" sz="1300">
              <a:solidFill>
                <a:schemeClr val="lt1"/>
              </a:solidFill>
              <a:latin typeface="Lato"/>
              <a:ea typeface="Lato"/>
              <a:cs typeface="Lato"/>
              <a:sym typeface="Lato"/>
            </a:endParaRPr>
          </a:p>
        </p:txBody>
      </p:sp>
      <p:sp>
        <p:nvSpPr>
          <p:cNvPr id="143" name="Google Shape;143;g3af1f6c57aa_0_3"/>
          <p:cNvSpPr/>
          <p:nvPr/>
        </p:nvSpPr>
        <p:spPr>
          <a:xfrm>
            <a:off x="1950951" y="3397926"/>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0,12</a:t>
            </a:r>
            <a:endParaRPr i="1" sz="1200">
              <a:solidFill>
                <a:schemeClr val="accent1"/>
              </a:solidFill>
              <a:latin typeface="Lato"/>
              <a:ea typeface="Lato"/>
              <a:cs typeface="Lato"/>
              <a:sym typeface="Lato"/>
            </a:endParaRPr>
          </a:p>
        </p:txBody>
      </p:sp>
      <p:sp>
        <p:nvSpPr>
          <p:cNvPr id="144" name="Google Shape;144;g3af1f6c57aa_0_3"/>
          <p:cNvSpPr/>
          <p:nvPr/>
        </p:nvSpPr>
        <p:spPr>
          <a:xfrm>
            <a:off x="3333582" y="1375465"/>
            <a:ext cx="3255900" cy="2136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Costos RRHH</a:t>
            </a:r>
            <a:endParaRPr i="1" sz="1300">
              <a:solidFill>
                <a:schemeClr val="lt1"/>
              </a:solidFill>
              <a:latin typeface="Lato"/>
              <a:ea typeface="Lato"/>
              <a:cs typeface="Lato"/>
              <a:sym typeface="Lato"/>
            </a:endParaRPr>
          </a:p>
        </p:txBody>
      </p:sp>
      <p:sp>
        <p:nvSpPr>
          <p:cNvPr id="145" name="Google Shape;145;g3af1f6c57aa_0_3"/>
          <p:cNvSpPr/>
          <p:nvPr/>
        </p:nvSpPr>
        <p:spPr>
          <a:xfrm>
            <a:off x="6589221" y="1375465"/>
            <a:ext cx="2188200" cy="2136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$18.060.000</a:t>
            </a:r>
            <a:endParaRPr i="1" sz="1200">
              <a:solidFill>
                <a:schemeClr val="accent1"/>
              </a:solidFill>
              <a:latin typeface="Lato"/>
              <a:ea typeface="Lato"/>
              <a:cs typeface="Lato"/>
              <a:sym typeface="Lato"/>
            </a:endParaRPr>
          </a:p>
        </p:txBody>
      </p:sp>
      <p:sp>
        <p:nvSpPr>
          <p:cNvPr id="146" name="Google Shape;146;g3af1f6c57aa_0_3"/>
          <p:cNvSpPr/>
          <p:nvPr/>
        </p:nvSpPr>
        <p:spPr>
          <a:xfrm>
            <a:off x="3333575" y="1589030"/>
            <a:ext cx="3255900" cy="2136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70000"/>
              </a:lnSpc>
              <a:spcBef>
                <a:spcPts val="0"/>
              </a:spcBef>
              <a:spcAft>
                <a:spcPts val="0"/>
              </a:spcAft>
              <a:buNone/>
            </a:pPr>
            <a:r>
              <a:rPr i="1" lang="es" sz="1300">
                <a:solidFill>
                  <a:schemeClr val="lt1"/>
                </a:solidFill>
                <a:latin typeface="Lato"/>
                <a:ea typeface="Lato"/>
                <a:cs typeface="Lato"/>
                <a:sym typeface="Lato"/>
              </a:rPr>
              <a:t>Equipos e Infraestructura</a:t>
            </a:r>
            <a:endParaRPr i="1" sz="1300">
              <a:solidFill>
                <a:schemeClr val="lt1"/>
              </a:solidFill>
              <a:latin typeface="Lato"/>
              <a:ea typeface="Lato"/>
              <a:cs typeface="Lato"/>
              <a:sym typeface="Lato"/>
            </a:endParaRPr>
          </a:p>
        </p:txBody>
      </p:sp>
      <p:sp>
        <p:nvSpPr>
          <p:cNvPr id="147" name="Google Shape;147;g3af1f6c57aa_0_3"/>
          <p:cNvSpPr/>
          <p:nvPr/>
        </p:nvSpPr>
        <p:spPr>
          <a:xfrm>
            <a:off x="6589199" y="1589029"/>
            <a:ext cx="2188200" cy="2136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$2.250.000</a:t>
            </a:r>
            <a:endParaRPr i="1" sz="1200">
              <a:solidFill>
                <a:schemeClr val="accent1"/>
              </a:solidFill>
              <a:latin typeface="Lato"/>
              <a:ea typeface="Lato"/>
              <a:cs typeface="Lato"/>
              <a:sym typeface="Lato"/>
            </a:endParaRPr>
          </a:p>
        </p:txBody>
      </p:sp>
      <p:sp>
        <p:nvSpPr>
          <p:cNvPr id="148" name="Google Shape;148;g3af1f6c57aa_0_3"/>
          <p:cNvSpPr/>
          <p:nvPr/>
        </p:nvSpPr>
        <p:spPr>
          <a:xfrm>
            <a:off x="3333576" y="1802595"/>
            <a:ext cx="3255900" cy="2136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70000"/>
              </a:lnSpc>
              <a:spcBef>
                <a:spcPts val="0"/>
              </a:spcBef>
              <a:spcAft>
                <a:spcPts val="0"/>
              </a:spcAft>
              <a:buNone/>
            </a:pPr>
            <a:r>
              <a:rPr i="1" lang="es" sz="1300">
                <a:solidFill>
                  <a:schemeClr val="lt1"/>
                </a:solidFill>
                <a:latin typeface="Lato"/>
                <a:ea typeface="Lato"/>
                <a:cs typeface="Lato"/>
                <a:sym typeface="Lato"/>
              </a:rPr>
              <a:t>Gastos Generales a Imprevistos</a:t>
            </a:r>
            <a:endParaRPr i="1" sz="1300">
              <a:solidFill>
                <a:schemeClr val="lt1"/>
              </a:solidFill>
              <a:latin typeface="Lato"/>
              <a:ea typeface="Lato"/>
              <a:cs typeface="Lato"/>
              <a:sym typeface="Lato"/>
            </a:endParaRPr>
          </a:p>
        </p:txBody>
      </p:sp>
      <p:sp>
        <p:nvSpPr>
          <p:cNvPr id="149" name="Google Shape;149;g3af1f6c57aa_0_3"/>
          <p:cNvSpPr/>
          <p:nvPr/>
        </p:nvSpPr>
        <p:spPr>
          <a:xfrm>
            <a:off x="6589221" y="1802594"/>
            <a:ext cx="2188200" cy="2136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$6.570.000</a:t>
            </a:r>
            <a:endParaRPr i="1" sz="1200">
              <a:solidFill>
                <a:schemeClr val="accent1"/>
              </a:solidFill>
              <a:latin typeface="Lato"/>
              <a:ea typeface="Lato"/>
              <a:cs typeface="Lato"/>
              <a:sym typeface="Lato"/>
            </a:endParaRPr>
          </a:p>
        </p:txBody>
      </p:sp>
      <p:sp>
        <p:nvSpPr>
          <p:cNvPr id="150" name="Google Shape;150;g3af1f6c57aa_0_3"/>
          <p:cNvSpPr/>
          <p:nvPr/>
        </p:nvSpPr>
        <p:spPr>
          <a:xfrm>
            <a:off x="3333582" y="2016160"/>
            <a:ext cx="3255900" cy="2136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Gastos Comunes</a:t>
            </a:r>
            <a:endParaRPr i="1" sz="1300">
              <a:solidFill>
                <a:schemeClr val="lt1"/>
              </a:solidFill>
              <a:latin typeface="Lato"/>
              <a:ea typeface="Lato"/>
              <a:cs typeface="Lato"/>
              <a:sym typeface="Lato"/>
            </a:endParaRPr>
          </a:p>
        </p:txBody>
      </p:sp>
      <p:sp>
        <p:nvSpPr>
          <p:cNvPr id="151" name="Google Shape;151;g3af1f6c57aa_0_3"/>
          <p:cNvSpPr/>
          <p:nvPr/>
        </p:nvSpPr>
        <p:spPr>
          <a:xfrm>
            <a:off x="6589221" y="2016159"/>
            <a:ext cx="2188200" cy="2136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$530.000</a:t>
            </a:r>
            <a:endParaRPr i="1" sz="1200">
              <a:solidFill>
                <a:schemeClr val="accent1"/>
              </a:solidFill>
              <a:latin typeface="Lato"/>
              <a:ea typeface="Lato"/>
              <a:cs typeface="Lato"/>
              <a:sym typeface="Lato"/>
            </a:endParaRPr>
          </a:p>
        </p:txBody>
      </p:sp>
      <p:sp>
        <p:nvSpPr>
          <p:cNvPr id="152" name="Google Shape;152;g3af1f6c57aa_0_3"/>
          <p:cNvSpPr/>
          <p:nvPr/>
        </p:nvSpPr>
        <p:spPr>
          <a:xfrm>
            <a:off x="3333575" y="2229725"/>
            <a:ext cx="3255900" cy="2136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Total Egresos</a:t>
            </a:r>
            <a:endParaRPr i="1" sz="1300">
              <a:solidFill>
                <a:schemeClr val="lt1"/>
              </a:solidFill>
              <a:latin typeface="Lato"/>
              <a:ea typeface="Lato"/>
              <a:cs typeface="Lato"/>
              <a:sym typeface="Lato"/>
            </a:endParaRPr>
          </a:p>
        </p:txBody>
      </p:sp>
      <p:sp>
        <p:nvSpPr>
          <p:cNvPr id="153" name="Google Shape;153;g3af1f6c57aa_0_3"/>
          <p:cNvSpPr/>
          <p:nvPr/>
        </p:nvSpPr>
        <p:spPr>
          <a:xfrm>
            <a:off x="6589199" y="2229723"/>
            <a:ext cx="2188200" cy="213600"/>
          </a:xfrm>
          <a:prstGeom prst="rect">
            <a:avLst/>
          </a:prstGeom>
          <a:solidFill>
            <a:srgbClr val="E06666"/>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lt1"/>
                </a:solidFill>
                <a:latin typeface="Lato"/>
                <a:ea typeface="Lato"/>
                <a:cs typeface="Lato"/>
                <a:sym typeface="Lato"/>
              </a:rPr>
              <a:t>$27.410.000</a:t>
            </a:r>
            <a:endParaRPr i="1" sz="1200">
              <a:solidFill>
                <a:schemeClr val="lt1"/>
              </a:solidFill>
              <a:latin typeface="Lato"/>
              <a:ea typeface="Lato"/>
              <a:cs typeface="Lato"/>
              <a:sym typeface="Lato"/>
            </a:endParaRPr>
          </a:p>
        </p:txBody>
      </p:sp>
      <p:sp>
        <p:nvSpPr>
          <p:cNvPr id="154" name="Google Shape;154;g3af1f6c57aa_0_3"/>
          <p:cNvSpPr/>
          <p:nvPr/>
        </p:nvSpPr>
        <p:spPr>
          <a:xfrm>
            <a:off x="3333582" y="1161900"/>
            <a:ext cx="3255900" cy="2136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300">
                <a:solidFill>
                  <a:schemeClr val="lt1"/>
                </a:solidFill>
                <a:latin typeface="Lato"/>
                <a:ea typeface="Lato"/>
                <a:cs typeface="Lato"/>
                <a:sym typeface="Lato"/>
              </a:rPr>
              <a:t>Egresos</a:t>
            </a:r>
            <a:endParaRPr b="1" sz="1300">
              <a:solidFill>
                <a:schemeClr val="lt1"/>
              </a:solidFill>
              <a:latin typeface="Lato"/>
              <a:ea typeface="Lato"/>
              <a:cs typeface="Lato"/>
              <a:sym typeface="Lato"/>
            </a:endParaRPr>
          </a:p>
        </p:txBody>
      </p:sp>
      <p:sp>
        <p:nvSpPr>
          <p:cNvPr id="155" name="Google Shape;155;g3af1f6c57aa_0_3"/>
          <p:cNvSpPr/>
          <p:nvPr/>
        </p:nvSpPr>
        <p:spPr>
          <a:xfrm>
            <a:off x="6589221" y="1161900"/>
            <a:ext cx="2188200" cy="2136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300">
                <a:solidFill>
                  <a:schemeClr val="lt1"/>
                </a:solidFill>
                <a:latin typeface="Lato"/>
                <a:ea typeface="Lato"/>
                <a:cs typeface="Lato"/>
                <a:sym typeface="Lato"/>
              </a:rPr>
              <a:t>Total</a:t>
            </a:r>
            <a:endParaRPr b="1" sz="1300">
              <a:solidFill>
                <a:schemeClr val="lt1"/>
              </a:solidFill>
              <a:latin typeface="Lato"/>
              <a:ea typeface="Lato"/>
              <a:cs typeface="Lato"/>
              <a:sym typeface="Lato"/>
            </a:endParaRPr>
          </a:p>
        </p:txBody>
      </p:sp>
      <p:sp>
        <p:nvSpPr>
          <p:cNvPr id="156" name="Google Shape;156;g3af1f6c57aa_0_3"/>
          <p:cNvSpPr/>
          <p:nvPr/>
        </p:nvSpPr>
        <p:spPr>
          <a:xfrm>
            <a:off x="3333573" y="2881570"/>
            <a:ext cx="12384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Pago Cuota 1</a:t>
            </a:r>
            <a:endParaRPr i="1" sz="1300">
              <a:solidFill>
                <a:schemeClr val="lt1"/>
              </a:solidFill>
              <a:latin typeface="Lato"/>
              <a:ea typeface="Lato"/>
              <a:cs typeface="Lato"/>
              <a:sym typeface="Lato"/>
            </a:endParaRPr>
          </a:p>
        </p:txBody>
      </p:sp>
      <p:sp>
        <p:nvSpPr>
          <p:cNvPr id="157" name="Google Shape;157;g3af1f6c57aa_0_3"/>
          <p:cNvSpPr/>
          <p:nvPr/>
        </p:nvSpPr>
        <p:spPr>
          <a:xfrm>
            <a:off x="4571998" y="2870413"/>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$8.750.000</a:t>
            </a:r>
            <a:endParaRPr i="1" sz="1200">
              <a:solidFill>
                <a:schemeClr val="accent1"/>
              </a:solidFill>
              <a:latin typeface="Lato"/>
              <a:ea typeface="Lato"/>
              <a:cs typeface="Lato"/>
              <a:sym typeface="Lato"/>
            </a:endParaRPr>
          </a:p>
        </p:txBody>
      </p:sp>
      <p:sp>
        <p:nvSpPr>
          <p:cNvPr id="158" name="Google Shape;158;g3af1f6c57aa_0_3"/>
          <p:cNvSpPr/>
          <p:nvPr/>
        </p:nvSpPr>
        <p:spPr>
          <a:xfrm>
            <a:off x="3333570" y="3106290"/>
            <a:ext cx="12384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Pago Cuota 2</a:t>
            </a:r>
            <a:endParaRPr i="1" sz="1300">
              <a:solidFill>
                <a:schemeClr val="lt1"/>
              </a:solidFill>
              <a:latin typeface="Lato"/>
              <a:ea typeface="Lato"/>
              <a:cs typeface="Lato"/>
              <a:sym typeface="Lato"/>
            </a:endParaRPr>
          </a:p>
        </p:txBody>
      </p:sp>
      <p:sp>
        <p:nvSpPr>
          <p:cNvPr id="159" name="Google Shape;159;g3af1f6c57aa_0_3"/>
          <p:cNvSpPr/>
          <p:nvPr/>
        </p:nvSpPr>
        <p:spPr>
          <a:xfrm>
            <a:off x="4571988" y="3095131"/>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60" name="Google Shape;160;g3af1f6c57aa_0_3"/>
          <p:cNvSpPr/>
          <p:nvPr/>
        </p:nvSpPr>
        <p:spPr>
          <a:xfrm>
            <a:off x="3333571" y="3331010"/>
            <a:ext cx="12384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Pago Cuota 3</a:t>
            </a:r>
            <a:endParaRPr i="1" sz="1300">
              <a:solidFill>
                <a:schemeClr val="lt1"/>
              </a:solidFill>
              <a:latin typeface="Lato"/>
              <a:ea typeface="Lato"/>
              <a:cs typeface="Lato"/>
              <a:sym typeface="Lato"/>
            </a:endParaRPr>
          </a:p>
        </p:txBody>
      </p:sp>
      <p:sp>
        <p:nvSpPr>
          <p:cNvPr id="161" name="Google Shape;161;g3af1f6c57aa_0_3"/>
          <p:cNvSpPr/>
          <p:nvPr/>
        </p:nvSpPr>
        <p:spPr>
          <a:xfrm>
            <a:off x="4571998" y="3319850"/>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62" name="Google Shape;162;g3af1f6c57aa_0_3"/>
          <p:cNvSpPr/>
          <p:nvPr/>
        </p:nvSpPr>
        <p:spPr>
          <a:xfrm>
            <a:off x="3333573" y="3555730"/>
            <a:ext cx="1238400" cy="224700"/>
          </a:xfrm>
          <a:prstGeom prst="rect">
            <a:avLst/>
          </a:prstGeom>
          <a:solidFill>
            <a:schemeClr val="dk1"/>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Préstamo</a:t>
            </a:r>
            <a:endParaRPr i="1" sz="1300">
              <a:solidFill>
                <a:schemeClr val="lt1"/>
              </a:solidFill>
              <a:latin typeface="Lato"/>
              <a:ea typeface="Lato"/>
              <a:cs typeface="Lato"/>
              <a:sym typeface="Lato"/>
            </a:endParaRPr>
          </a:p>
        </p:txBody>
      </p:sp>
      <p:sp>
        <p:nvSpPr>
          <p:cNvPr id="163" name="Google Shape;163;g3af1f6c57aa_0_3"/>
          <p:cNvSpPr/>
          <p:nvPr/>
        </p:nvSpPr>
        <p:spPr>
          <a:xfrm>
            <a:off x="4571998" y="3544570"/>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$28.000.000</a:t>
            </a:r>
            <a:endParaRPr i="1" sz="1200">
              <a:solidFill>
                <a:schemeClr val="accent1"/>
              </a:solidFill>
              <a:latin typeface="Lato"/>
              <a:ea typeface="Lato"/>
              <a:cs typeface="Lato"/>
              <a:sym typeface="Lato"/>
            </a:endParaRPr>
          </a:p>
        </p:txBody>
      </p:sp>
      <p:sp>
        <p:nvSpPr>
          <p:cNvPr id="164" name="Google Shape;164;g3af1f6c57aa_0_3"/>
          <p:cNvSpPr/>
          <p:nvPr/>
        </p:nvSpPr>
        <p:spPr>
          <a:xfrm>
            <a:off x="3333570" y="3780450"/>
            <a:ext cx="1238400" cy="2247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300">
                <a:solidFill>
                  <a:schemeClr val="lt1"/>
                </a:solidFill>
                <a:latin typeface="Lato"/>
                <a:ea typeface="Lato"/>
                <a:cs typeface="Lato"/>
                <a:sym typeface="Lato"/>
              </a:rPr>
              <a:t>Total Ingresos</a:t>
            </a:r>
            <a:endParaRPr i="1" sz="1300">
              <a:solidFill>
                <a:schemeClr val="lt1"/>
              </a:solidFill>
              <a:latin typeface="Lato"/>
              <a:ea typeface="Lato"/>
              <a:cs typeface="Lato"/>
              <a:sym typeface="Lato"/>
            </a:endParaRPr>
          </a:p>
        </p:txBody>
      </p:sp>
      <p:sp>
        <p:nvSpPr>
          <p:cNvPr id="165" name="Google Shape;165;g3af1f6c57aa_0_3"/>
          <p:cNvSpPr/>
          <p:nvPr/>
        </p:nvSpPr>
        <p:spPr>
          <a:xfrm>
            <a:off x="4571988" y="3769289"/>
            <a:ext cx="1068000" cy="224700"/>
          </a:xfrm>
          <a:prstGeom prst="rect">
            <a:avLst/>
          </a:prstGeom>
          <a:solidFill>
            <a:srgbClr val="E06666"/>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lt1"/>
                </a:solidFill>
                <a:latin typeface="Lato"/>
                <a:ea typeface="Lato"/>
                <a:cs typeface="Lato"/>
                <a:sym typeface="Lato"/>
              </a:rPr>
              <a:t>$36.750.000</a:t>
            </a:r>
            <a:endParaRPr i="1" sz="1200">
              <a:solidFill>
                <a:schemeClr val="lt1"/>
              </a:solidFill>
              <a:latin typeface="Lato"/>
              <a:ea typeface="Lato"/>
              <a:cs typeface="Lato"/>
              <a:sym typeface="Lato"/>
            </a:endParaRPr>
          </a:p>
        </p:txBody>
      </p:sp>
      <p:sp>
        <p:nvSpPr>
          <p:cNvPr id="166" name="Google Shape;166;g3af1f6c57aa_0_3"/>
          <p:cNvSpPr/>
          <p:nvPr/>
        </p:nvSpPr>
        <p:spPr>
          <a:xfrm>
            <a:off x="3333573" y="2656850"/>
            <a:ext cx="1238400" cy="2247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300">
                <a:solidFill>
                  <a:schemeClr val="lt1"/>
                </a:solidFill>
                <a:latin typeface="Lato"/>
                <a:ea typeface="Lato"/>
                <a:cs typeface="Lato"/>
                <a:sym typeface="Lato"/>
              </a:rPr>
              <a:t>Ingresos</a:t>
            </a:r>
            <a:endParaRPr b="1" sz="1300">
              <a:solidFill>
                <a:schemeClr val="lt1"/>
              </a:solidFill>
              <a:latin typeface="Lato"/>
              <a:ea typeface="Lato"/>
              <a:cs typeface="Lato"/>
              <a:sym typeface="Lato"/>
            </a:endParaRPr>
          </a:p>
        </p:txBody>
      </p:sp>
      <p:sp>
        <p:nvSpPr>
          <p:cNvPr id="167" name="Google Shape;167;g3af1f6c57aa_0_3"/>
          <p:cNvSpPr/>
          <p:nvPr/>
        </p:nvSpPr>
        <p:spPr>
          <a:xfrm>
            <a:off x="4572000" y="2656850"/>
            <a:ext cx="4205400" cy="224700"/>
          </a:xfrm>
          <a:prstGeom prst="rect">
            <a:avLst/>
          </a:prstGeom>
          <a:solidFill>
            <a:srgbClr val="CC0000"/>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lt1"/>
              </a:solidFill>
              <a:latin typeface="Lato"/>
              <a:ea typeface="Lato"/>
              <a:cs typeface="Lato"/>
              <a:sym typeface="Lato"/>
            </a:endParaRPr>
          </a:p>
        </p:txBody>
      </p:sp>
      <p:sp>
        <p:nvSpPr>
          <p:cNvPr id="168" name="Google Shape;168;g3af1f6c57aa_0_3"/>
          <p:cNvSpPr/>
          <p:nvPr/>
        </p:nvSpPr>
        <p:spPr>
          <a:xfrm>
            <a:off x="6140698" y="2870413"/>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69" name="Google Shape;169;g3af1f6c57aa_0_3"/>
          <p:cNvSpPr/>
          <p:nvPr/>
        </p:nvSpPr>
        <p:spPr>
          <a:xfrm>
            <a:off x="6140688" y="3095131"/>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$8.750.000</a:t>
            </a:r>
            <a:endParaRPr i="1" sz="1200">
              <a:solidFill>
                <a:schemeClr val="accent1"/>
              </a:solidFill>
              <a:latin typeface="Lato"/>
              <a:ea typeface="Lato"/>
              <a:cs typeface="Lato"/>
              <a:sym typeface="Lato"/>
            </a:endParaRPr>
          </a:p>
        </p:txBody>
      </p:sp>
      <p:sp>
        <p:nvSpPr>
          <p:cNvPr id="170" name="Google Shape;170;g3af1f6c57aa_0_3"/>
          <p:cNvSpPr/>
          <p:nvPr/>
        </p:nvSpPr>
        <p:spPr>
          <a:xfrm>
            <a:off x="6140698" y="3319850"/>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71" name="Google Shape;171;g3af1f6c57aa_0_3"/>
          <p:cNvSpPr/>
          <p:nvPr/>
        </p:nvSpPr>
        <p:spPr>
          <a:xfrm>
            <a:off x="6140698" y="3544570"/>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72" name="Google Shape;172;g3af1f6c57aa_0_3"/>
          <p:cNvSpPr/>
          <p:nvPr/>
        </p:nvSpPr>
        <p:spPr>
          <a:xfrm>
            <a:off x="6140688" y="3769289"/>
            <a:ext cx="1068000" cy="224700"/>
          </a:xfrm>
          <a:prstGeom prst="rect">
            <a:avLst/>
          </a:prstGeom>
          <a:solidFill>
            <a:srgbClr val="E06666"/>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lt1"/>
                </a:solidFill>
                <a:latin typeface="Lato"/>
                <a:ea typeface="Lato"/>
                <a:cs typeface="Lato"/>
                <a:sym typeface="Lato"/>
              </a:rPr>
              <a:t>$8.750.000</a:t>
            </a:r>
            <a:endParaRPr i="1" sz="1200">
              <a:solidFill>
                <a:schemeClr val="lt1"/>
              </a:solidFill>
              <a:latin typeface="Lato"/>
              <a:ea typeface="Lato"/>
              <a:cs typeface="Lato"/>
              <a:sym typeface="Lato"/>
            </a:endParaRPr>
          </a:p>
        </p:txBody>
      </p:sp>
      <p:sp>
        <p:nvSpPr>
          <p:cNvPr id="173" name="Google Shape;173;g3af1f6c57aa_0_3"/>
          <p:cNvSpPr/>
          <p:nvPr/>
        </p:nvSpPr>
        <p:spPr>
          <a:xfrm>
            <a:off x="7709398" y="2870425"/>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74" name="Google Shape;174;g3af1f6c57aa_0_3"/>
          <p:cNvSpPr/>
          <p:nvPr/>
        </p:nvSpPr>
        <p:spPr>
          <a:xfrm>
            <a:off x="7709388" y="3095144"/>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75" name="Google Shape;175;g3af1f6c57aa_0_3"/>
          <p:cNvSpPr/>
          <p:nvPr/>
        </p:nvSpPr>
        <p:spPr>
          <a:xfrm>
            <a:off x="7709398" y="3319863"/>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accent1"/>
                </a:solidFill>
                <a:latin typeface="Lato"/>
                <a:ea typeface="Lato"/>
                <a:cs typeface="Lato"/>
                <a:sym typeface="Lato"/>
              </a:rPr>
              <a:t>$17.500.000</a:t>
            </a:r>
            <a:endParaRPr i="1" sz="1200">
              <a:solidFill>
                <a:schemeClr val="accent1"/>
              </a:solidFill>
              <a:latin typeface="Lato"/>
              <a:ea typeface="Lato"/>
              <a:cs typeface="Lato"/>
              <a:sym typeface="Lato"/>
            </a:endParaRPr>
          </a:p>
        </p:txBody>
      </p:sp>
      <p:sp>
        <p:nvSpPr>
          <p:cNvPr id="176" name="Google Shape;176;g3af1f6c57aa_0_3"/>
          <p:cNvSpPr/>
          <p:nvPr/>
        </p:nvSpPr>
        <p:spPr>
          <a:xfrm>
            <a:off x="7709398" y="3544582"/>
            <a:ext cx="10680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77" name="Google Shape;177;g3af1f6c57aa_0_3"/>
          <p:cNvSpPr/>
          <p:nvPr/>
        </p:nvSpPr>
        <p:spPr>
          <a:xfrm>
            <a:off x="7709388" y="3769301"/>
            <a:ext cx="1068000" cy="224700"/>
          </a:xfrm>
          <a:prstGeom prst="rect">
            <a:avLst/>
          </a:prstGeom>
          <a:solidFill>
            <a:srgbClr val="E06666"/>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s" sz="1200">
                <a:solidFill>
                  <a:schemeClr val="lt1"/>
                </a:solidFill>
                <a:latin typeface="Lato"/>
                <a:ea typeface="Lato"/>
                <a:cs typeface="Lato"/>
                <a:sym typeface="Lato"/>
              </a:rPr>
              <a:t>$17.500.000</a:t>
            </a:r>
            <a:endParaRPr i="1" sz="1200">
              <a:solidFill>
                <a:schemeClr val="lt1"/>
              </a:solidFill>
              <a:latin typeface="Lato"/>
              <a:ea typeface="Lato"/>
              <a:cs typeface="Lato"/>
              <a:sym typeface="Lato"/>
            </a:endParaRPr>
          </a:p>
        </p:txBody>
      </p:sp>
      <p:sp>
        <p:nvSpPr>
          <p:cNvPr id="178" name="Google Shape;178;g3af1f6c57aa_0_3"/>
          <p:cNvSpPr txBox="1"/>
          <p:nvPr>
            <p:ph idx="1" type="body"/>
          </p:nvPr>
        </p:nvSpPr>
        <p:spPr>
          <a:xfrm>
            <a:off x="311700" y="4149600"/>
            <a:ext cx="4260300" cy="719700"/>
          </a:xfrm>
          <a:prstGeom prst="rect">
            <a:avLst/>
          </a:prstGeom>
          <a:noFill/>
          <a:ln>
            <a:noFill/>
          </a:ln>
        </p:spPr>
        <p:txBody>
          <a:bodyPr anchorCtr="0" anchor="ctr" bIns="91425" lIns="91425" spcFirstLastPara="1" rIns="91425" wrap="square" tIns="91425">
            <a:normAutofit fontScale="70000" lnSpcReduction="20000"/>
          </a:bodyPr>
          <a:lstStyle/>
          <a:p>
            <a:pPr indent="0" lvl="0" marL="0" rtl="0" algn="ctr">
              <a:lnSpc>
                <a:spcPct val="115000"/>
              </a:lnSpc>
              <a:spcBef>
                <a:spcPts val="1200"/>
              </a:spcBef>
              <a:spcAft>
                <a:spcPts val="0"/>
              </a:spcAft>
              <a:buNone/>
            </a:pPr>
            <a:r>
              <a:rPr lang="es"/>
              <a:t>Costo del proyecto</a:t>
            </a:r>
            <a:endParaRPr/>
          </a:p>
          <a:p>
            <a:pPr indent="0" lvl="0" marL="0" rtl="0" algn="ctr">
              <a:lnSpc>
                <a:spcPct val="115000"/>
              </a:lnSpc>
              <a:spcBef>
                <a:spcPts val="1200"/>
              </a:spcBef>
              <a:spcAft>
                <a:spcPts val="1200"/>
              </a:spcAft>
              <a:buNone/>
            </a:pPr>
            <a:r>
              <a:rPr b="1" i="1" lang="es" sz="1942"/>
              <a:t>$27.410.000</a:t>
            </a:r>
            <a:endParaRPr b="1" i="1" sz="1942"/>
          </a:p>
        </p:txBody>
      </p:sp>
      <p:sp>
        <p:nvSpPr>
          <p:cNvPr id="179" name="Google Shape;179;g3af1f6c57aa_0_3"/>
          <p:cNvSpPr txBox="1"/>
          <p:nvPr>
            <p:ph idx="1" type="body"/>
          </p:nvPr>
        </p:nvSpPr>
        <p:spPr>
          <a:xfrm>
            <a:off x="4571988" y="4149600"/>
            <a:ext cx="4260300" cy="719700"/>
          </a:xfrm>
          <a:prstGeom prst="rect">
            <a:avLst/>
          </a:prstGeom>
          <a:noFill/>
          <a:ln>
            <a:noFill/>
          </a:ln>
        </p:spPr>
        <p:txBody>
          <a:bodyPr anchorCtr="0" anchor="ctr" bIns="91425" lIns="91425" spcFirstLastPara="1" rIns="91425" wrap="square" tIns="91425">
            <a:normAutofit fontScale="70000" lnSpcReduction="20000"/>
          </a:bodyPr>
          <a:lstStyle/>
          <a:p>
            <a:pPr indent="0" lvl="0" marL="0" rtl="0" algn="ctr">
              <a:lnSpc>
                <a:spcPct val="115000"/>
              </a:lnSpc>
              <a:spcBef>
                <a:spcPts val="1200"/>
              </a:spcBef>
              <a:spcAft>
                <a:spcPts val="0"/>
              </a:spcAft>
              <a:buNone/>
            </a:pPr>
            <a:r>
              <a:rPr lang="es"/>
              <a:t>Venta Total</a:t>
            </a:r>
            <a:endParaRPr/>
          </a:p>
          <a:p>
            <a:pPr indent="0" lvl="0" marL="0" rtl="0" algn="ctr">
              <a:lnSpc>
                <a:spcPct val="115000"/>
              </a:lnSpc>
              <a:spcBef>
                <a:spcPts val="1200"/>
              </a:spcBef>
              <a:spcAft>
                <a:spcPts val="1200"/>
              </a:spcAft>
              <a:buNone/>
            </a:pPr>
            <a:r>
              <a:rPr b="1" i="1" lang="es" sz="1942"/>
              <a:t>$35.000.000</a:t>
            </a:r>
            <a:endParaRPr b="1" i="1" sz="1942"/>
          </a:p>
        </p:txBody>
      </p:sp>
      <p:sp>
        <p:nvSpPr>
          <p:cNvPr id="180" name="Google Shape;180;g3af1f6c57aa_0_3"/>
          <p:cNvSpPr/>
          <p:nvPr/>
        </p:nvSpPr>
        <p:spPr>
          <a:xfrm>
            <a:off x="5640007" y="2870425"/>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1" name="Google Shape;181;g3af1f6c57aa_0_3"/>
          <p:cNvSpPr/>
          <p:nvPr/>
        </p:nvSpPr>
        <p:spPr>
          <a:xfrm>
            <a:off x="5640003" y="3095144"/>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2" name="Google Shape;182;g3af1f6c57aa_0_3"/>
          <p:cNvSpPr/>
          <p:nvPr/>
        </p:nvSpPr>
        <p:spPr>
          <a:xfrm>
            <a:off x="5640007" y="3319863"/>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3" name="Google Shape;183;g3af1f6c57aa_0_3"/>
          <p:cNvSpPr/>
          <p:nvPr/>
        </p:nvSpPr>
        <p:spPr>
          <a:xfrm>
            <a:off x="5640007" y="3544581"/>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4" name="Google Shape;184;g3af1f6c57aa_0_3"/>
          <p:cNvSpPr/>
          <p:nvPr/>
        </p:nvSpPr>
        <p:spPr>
          <a:xfrm>
            <a:off x="5640003" y="3769300"/>
            <a:ext cx="500700" cy="224700"/>
          </a:xfrm>
          <a:prstGeom prst="rect">
            <a:avLst/>
          </a:prstGeom>
          <a:solidFill>
            <a:srgbClr val="E06666"/>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lt1"/>
              </a:solidFill>
              <a:latin typeface="Lato"/>
              <a:ea typeface="Lato"/>
              <a:cs typeface="Lato"/>
              <a:sym typeface="Lato"/>
            </a:endParaRPr>
          </a:p>
        </p:txBody>
      </p:sp>
      <p:sp>
        <p:nvSpPr>
          <p:cNvPr id="185" name="Google Shape;185;g3af1f6c57aa_0_3"/>
          <p:cNvSpPr/>
          <p:nvPr/>
        </p:nvSpPr>
        <p:spPr>
          <a:xfrm>
            <a:off x="7208732" y="2870425"/>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6" name="Google Shape;186;g3af1f6c57aa_0_3"/>
          <p:cNvSpPr/>
          <p:nvPr/>
        </p:nvSpPr>
        <p:spPr>
          <a:xfrm>
            <a:off x="7208728" y="3095144"/>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7" name="Google Shape;187;g3af1f6c57aa_0_3"/>
          <p:cNvSpPr/>
          <p:nvPr/>
        </p:nvSpPr>
        <p:spPr>
          <a:xfrm>
            <a:off x="7208732" y="3319863"/>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8" name="Google Shape;188;g3af1f6c57aa_0_3"/>
          <p:cNvSpPr/>
          <p:nvPr/>
        </p:nvSpPr>
        <p:spPr>
          <a:xfrm>
            <a:off x="7208732" y="3544581"/>
            <a:ext cx="500700" cy="224700"/>
          </a:xfrm>
          <a:prstGeom prst="rect">
            <a:avLst/>
          </a:prstGeom>
          <a:solidFill>
            <a:srgbClr val="F4CCCC"/>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accent1"/>
              </a:solidFill>
              <a:latin typeface="Lato"/>
              <a:ea typeface="Lato"/>
              <a:cs typeface="Lato"/>
              <a:sym typeface="Lato"/>
            </a:endParaRPr>
          </a:p>
        </p:txBody>
      </p:sp>
      <p:sp>
        <p:nvSpPr>
          <p:cNvPr id="189" name="Google Shape;189;g3af1f6c57aa_0_3"/>
          <p:cNvSpPr/>
          <p:nvPr/>
        </p:nvSpPr>
        <p:spPr>
          <a:xfrm>
            <a:off x="7208728" y="3769300"/>
            <a:ext cx="500700" cy="224700"/>
          </a:xfrm>
          <a:prstGeom prst="rect">
            <a:avLst/>
          </a:prstGeom>
          <a:solidFill>
            <a:srgbClr val="E06666"/>
          </a:solidFill>
          <a:ln cap="flat" cmpd="sng" w="9525">
            <a:solidFill>
              <a:srgbClr val="6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lt1"/>
              </a:solidFill>
              <a:latin typeface="Lato"/>
              <a:ea typeface="Lato"/>
              <a:cs typeface="Lato"/>
              <a:sym typeface="Lato"/>
            </a:endParaRPr>
          </a:p>
        </p:txBody>
      </p:sp>
      <p:grpSp>
        <p:nvGrpSpPr>
          <p:cNvPr id="190" name="Google Shape;190;g3af1f6c57aa_0_3"/>
          <p:cNvGrpSpPr/>
          <p:nvPr/>
        </p:nvGrpSpPr>
        <p:grpSpPr>
          <a:xfrm>
            <a:off x="8479350" y="4455019"/>
            <a:ext cx="577800" cy="656106"/>
            <a:chOff x="8479350" y="4455019"/>
            <a:chExt cx="577800" cy="656106"/>
          </a:xfrm>
        </p:grpSpPr>
        <p:pic>
          <p:nvPicPr>
            <p:cNvPr id="191" name="Google Shape;191;g3af1f6c57aa_0_3"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192" name="Google Shape;192;g3af1f6c57aa_0_3"/>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8765"/>
              <a:buNone/>
            </a:pPr>
            <a:r>
              <a:rPr lang="es"/>
              <a:t>Arquitectura del software</a:t>
            </a:r>
            <a:endParaRPr b="0" sz="3600">
              <a:solidFill>
                <a:srgbClr val="000000"/>
              </a:solidFill>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198" name="Google Shape;198;p8"/>
          <p:cNvSpPr txBox="1"/>
          <p:nvPr/>
        </p:nvSpPr>
        <p:spPr>
          <a:xfrm>
            <a:off x="251675" y="4687350"/>
            <a:ext cx="2768400" cy="2595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1200"/>
              </a:spcAft>
              <a:buClr>
                <a:srgbClr val="000000"/>
              </a:buClr>
              <a:buSzPts val="1800"/>
              <a:buFont typeface="Arial"/>
              <a:buNone/>
            </a:pPr>
            <a:r>
              <a:t/>
            </a:r>
            <a:endParaRPr b="0" i="0" sz="1800" u="none" cap="none" strike="noStrike">
              <a:solidFill>
                <a:schemeClr val="dk2"/>
              </a:solidFill>
              <a:latin typeface="Lato"/>
              <a:ea typeface="Lato"/>
              <a:cs typeface="Lato"/>
              <a:sym typeface="Lato"/>
            </a:endParaRPr>
          </a:p>
        </p:txBody>
      </p:sp>
      <p:pic>
        <p:nvPicPr>
          <p:cNvPr id="199" name="Google Shape;199;p8" title="Diagrama Arquitectura.drawio.png"/>
          <p:cNvPicPr preferRelativeResize="0"/>
          <p:nvPr/>
        </p:nvPicPr>
        <p:blipFill rotWithShape="1">
          <a:blip r:embed="rId3">
            <a:alphaModFix/>
          </a:blip>
          <a:srcRect b="0" l="0" r="0" t="0"/>
          <a:stretch/>
        </p:blipFill>
        <p:spPr>
          <a:xfrm>
            <a:off x="769700" y="1169850"/>
            <a:ext cx="7604597" cy="3365101"/>
          </a:xfrm>
          <a:prstGeom prst="rect">
            <a:avLst/>
          </a:prstGeom>
          <a:noFill/>
          <a:ln>
            <a:noFill/>
          </a:ln>
        </p:spPr>
      </p:pic>
      <p:grpSp>
        <p:nvGrpSpPr>
          <p:cNvPr id="200" name="Google Shape;200;p8"/>
          <p:cNvGrpSpPr/>
          <p:nvPr/>
        </p:nvGrpSpPr>
        <p:grpSpPr>
          <a:xfrm>
            <a:off x="8479350" y="4455019"/>
            <a:ext cx="577800" cy="656106"/>
            <a:chOff x="8479350" y="4455019"/>
            <a:chExt cx="577800" cy="656106"/>
          </a:xfrm>
        </p:grpSpPr>
        <p:pic>
          <p:nvPicPr>
            <p:cNvPr id="201" name="Google Shape;201;p8" title="icon-only.png"/>
            <p:cNvPicPr preferRelativeResize="0"/>
            <p:nvPr/>
          </p:nvPicPr>
          <p:blipFill rotWithShape="1">
            <a:blip r:embed="rId4">
              <a:alphaModFix amt="40000"/>
            </a:blip>
            <a:srcRect b="0" l="0" r="0" t="0"/>
            <a:stretch/>
          </p:blipFill>
          <p:spPr>
            <a:xfrm>
              <a:off x="8517900" y="4455019"/>
              <a:ext cx="500700" cy="500700"/>
            </a:xfrm>
            <a:prstGeom prst="rect">
              <a:avLst/>
            </a:prstGeom>
            <a:noFill/>
            <a:ln>
              <a:noFill/>
            </a:ln>
          </p:spPr>
        </p:pic>
        <p:sp>
          <p:nvSpPr>
            <p:cNvPr id="202" name="Google Shape;202;p8"/>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9"/>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8765"/>
              <a:buNone/>
            </a:pPr>
            <a:r>
              <a:rPr lang="es"/>
              <a:t>Modelo base de datos</a:t>
            </a:r>
            <a:endParaRPr b="0" sz="3600">
              <a:solidFill>
                <a:srgbClr val="000000"/>
              </a:solidFill>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pic>
        <p:nvPicPr>
          <p:cNvPr id="208" name="Google Shape;208;p9"/>
          <p:cNvPicPr preferRelativeResize="0"/>
          <p:nvPr/>
        </p:nvPicPr>
        <p:blipFill>
          <a:blip r:embed="rId3">
            <a:alphaModFix/>
          </a:blip>
          <a:stretch>
            <a:fillRect/>
          </a:stretch>
        </p:blipFill>
        <p:spPr>
          <a:xfrm>
            <a:off x="601550" y="1089695"/>
            <a:ext cx="7789374" cy="3739400"/>
          </a:xfrm>
          <a:prstGeom prst="rect">
            <a:avLst/>
          </a:prstGeom>
          <a:noFill/>
          <a:ln>
            <a:noFill/>
          </a:ln>
        </p:spPr>
      </p:pic>
      <p:grpSp>
        <p:nvGrpSpPr>
          <p:cNvPr id="209" name="Google Shape;209;p9"/>
          <p:cNvGrpSpPr/>
          <p:nvPr/>
        </p:nvGrpSpPr>
        <p:grpSpPr>
          <a:xfrm>
            <a:off x="8479350" y="4455019"/>
            <a:ext cx="577800" cy="656106"/>
            <a:chOff x="8479350" y="4455019"/>
            <a:chExt cx="577800" cy="656106"/>
          </a:xfrm>
        </p:grpSpPr>
        <p:pic>
          <p:nvPicPr>
            <p:cNvPr id="210" name="Google Shape;210;p9" title="icon-only.png"/>
            <p:cNvPicPr preferRelativeResize="0"/>
            <p:nvPr/>
          </p:nvPicPr>
          <p:blipFill rotWithShape="1">
            <a:blip r:embed="rId4">
              <a:alphaModFix amt="40000"/>
            </a:blip>
            <a:srcRect b="0" l="0" r="0" t="0"/>
            <a:stretch/>
          </p:blipFill>
          <p:spPr>
            <a:xfrm>
              <a:off x="8517900" y="4455019"/>
              <a:ext cx="500700" cy="500700"/>
            </a:xfrm>
            <a:prstGeom prst="rect">
              <a:avLst/>
            </a:prstGeom>
            <a:noFill/>
            <a:ln>
              <a:noFill/>
            </a:ln>
          </p:spPr>
        </p:pic>
        <p:sp>
          <p:nvSpPr>
            <p:cNvPr id="211" name="Google Shape;211;p9"/>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8765"/>
              <a:buNone/>
            </a:pPr>
            <a:r>
              <a:rPr lang="es"/>
              <a:t>Tecnologías utilizadas</a:t>
            </a:r>
            <a:endParaRPr b="0" sz="3600">
              <a:solidFill>
                <a:srgbClr val="000000"/>
              </a:solidFill>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p>
        </p:txBody>
      </p:sp>
      <p:sp>
        <p:nvSpPr>
          <p:cNvPr id="217" name="Google Shape;21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b="1" lang="es"/>
              <a:t>Modelo:</a:t>
            </a:r>
            <a:r>
              <a:rPr lang="es"/>
              <a:t>			MVC</a:t>
            </a:r>
            <a:endParaRPr/>
          </a:p>
          <a:p>
            <a:pPr indent="-342900" lvl="0" marL="457200" rtl="0" algn="l">
              <a:lnSpc>
                <a:spcPct val="200000"/>
              </a:lnSpc>
              <a:spcBef>
                <a:spcPts val="0"/>
              </a:spcBef>
              <a:spcAft>
                <a:spcPts val="0"/>
              </a:spcAft>
              <a:buSzPts val="1800"/>
              <a:buChar char="●"/>
            </a:pPr>
            <a:r>
              <a:rPr b="1" lang="es"/>
              <a:t>Aplicación Móvil</a:t>
            </a:r>
            <a:r>
              <a:rPr lang="es"/>
              <a:t>: 	Desarrollado con HTML5 + CSS3, JS, y Capacitor</a:t>
            </a:r>
            <a:endParaRPr/>
          </a:p>
          <a:p>
            <a:pPr indent="-342900" lvl="0" marL="457200" rtl="0" algn="l">
              <a:lnSpc>
                <a:spcPct val="200000"/>
              </a:lnSpc>
              <a:spcBef>
                <a:spcPts val="0"/>
              </a:spcBef>
              <a:spcAft>
                <a:spcPts val="0"/>
              </a:spcAft>
              <a:buSzPts val="1800"/>
              <a:buChar char="●"/>
            </a:pPr>
            <a:r>
              <a:rPr b="1" lang="es"/>
              <a:t>Servidor Web</a:t>
            </a:r>
            <a:r>
              <a:rPr lang="es"/>
              <a:t>: 	Servidor HTTP con stack LAMP* (en la nube)</a:t>
            </a:r>
            <a:endParaRPr sz="1000">
              <a:solidFill>
                <a:schemeClr val="lt2"/>
              </a:solidFill>
            </a:endParaRPr>
          </a:p>
          <a:p>
            <a:pPr indent="-342900" lvl="0" marL="457200" rtl="0" algn="l">
              <a:lnSpc>
                <a:spcPct val="200000"/>
              </a:lnSpc>
              <a:spcBef>
                <a:spcPts val="0"/>
              </a:spcBef>
              <a:spcAft>
                <a:spcPts val="0"/>
              </a:spcAft>
              <a:buSzPts val="1800"/>
              <a:buChar char="●"/>
            </a:pPr>
            <a:r>
              <a:rPr b="1" lang="es"/>
              <a:t>Servidor BD</a:t>
            </a:r>
            <a:r>
              <a:rPr lang="es"/>
              <a:t>: 		Servidor MySQL (junto al servidor web)</a:t>
            </a:r>
            <a:endParaRPr/>
          </a:p>
          <a:p>
            <a:pPr indent="-342900" lvl="0" marL="457200" rtl="0" algn="l">
              <a:lnSpc>
                <a:spcPct val="115000"/>
              </a:lnSpc>
              <a:spcBef>
                <a:spcPts val="0"/>
              </a:spcBef>
              <a:spcAft>
                <a:spcPts val="0"/>
              </a:spcAft>
              <a:buSzPts val="1800"/>
              <a:buChar char="●"/>
            </a:pPr>
            <a:r>
              <a:rPr b="1" lang="es"/>
              <a:t>APIs, Librerías, y Contenido Externo</a:t>
            </a:r>
            <a:r>
              <a:rPr lang="es"/>
              <a:t>:</a:t>
            </a:r>
            <a:endParaRPr/>
          </a:p>
          <a:p>
            <a:pPr indent="-317500" lvl="1" marL="914400" rtl="0" algn="l">
              <a:lnSpc>
                <a:spcPct val="115000"/>
              </a:lnSpc>
              <a:spcBef>
                <a:spcPts val="0"/>
              </a:spcBef>
              <a:spcAft>
                <a:spcPts val="0"/>
              </a:spcAft>
              <a:buSzPts val="1400"/>
              <a:buChar char="○"/>
            </a:pPr>
            <a:r>
              <a:rPr lang="es"/>
              <a:t>OpenStreet</a:t>
            </a:r>
            <a:endParaRPr/>
          </a:p>
          <a:p>
            <a:pPr indent="-317500" lvl="1" marL="914400" rtl="0" algn="l">
              <a:lnSpc>
                <a:spcPct val="115000"/>
              </a:lnSpc>
              <a:spcBef>
                <a:spcPts val="0"/>
              </a:spcBef>
              <a:spcAft>
                <a:spcPts val="0"/>
              </a:spcAft>
              <a:buSzPts val="1400"/>
              <a:buChar char="○"/>
            </a:pPr>
            <a:r>
              <a:rPr lang="es"/>
              <a:t>Feeds RSS</a:t>
            </a:r>
            <a:endParaRPr/>
          </a:p>
          <a:p>
            <a:pPr indent="-317500" lvl="1" marL="914400" rtl="0" algn="l">
              <a:lnSpc>
                <a:spcPct val="115000"/>
              </a:lnSpc>
              <a:spcBef>
                <a:spcPts val="0"/>
              </a:spcBef>
              <a:spcAft>
                <a:spcPts val="0"/>
              </a:spcAft>
              <a:buSzPts val="1400"/>
              <a:buChar char="○"/>
            </a:pPr>
            <a:r>
              <a:rPr lang="es"/>
              <a:t>QRServer</a:t>
            </a:r>
            <a:endParaRPr/>
          </a:p>
        </p:txBody>
      </p:sp>
      <p:sp>
        <p:nvSpPr>
          <p:cNvPr id="218" name="Google Shape;218;p10"/>
          <p:cNvSpPr txBox="1"/>
          <p:nvPr/>
        </p:nvSpPr>
        <p:spPr>
          <a:xfrm>
            <a:off x="251675" y="4687350"/>
            <a:ext cx="2768400" cy="2595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000"/>
              <a:buFont typeface="Arial"/>
              <a:buNone/>
            </a:pPr>
            <a:r>
              <a:rPr b="0" i="0" lang="es" sz="1000" u="none" cap="none" strike="noStrike">
                <a:solidFill>
                  <a:schemeClr val="lt2"/>
                </a:solidFill>
                <a:latin typeface="Lato"/>
                <a:ea typeface="Lato"/>
                <a:cs typeface="Lato"/>
                <a:sym typeface="Lato"/>
              </a:rPr>
              <a:t>* Linux, Apache, MySQL, PHP</a:t>
            </a:r>
            <a:endParaRPr b="0" i="0" sz="1800" u="none" cap="none" strike="noStrike">
              <a:solidFill>
                <a:schemeClr val="dk2"/>
              </a:solidFill>
              <a:latin typeface="Lato"/>
              <a:ea typeface="Lato"/>
              <a:cs typeface="Lato"/>
              <a:sym typeface="Lato"/>
            </a:endParaRPr>
          </a:p>
          <a:p>
            <a:pPr indent="0" lvl="0" marL="0" marR="0" rtl="0" algn="l">
              <a:lnSpc>
                <a:spcPct val="200000"/>
              </a:lnSpc>
              <a:spcBef>
                <a:spcPts val="1200"/>
              </a:spcBef>
              <a:spcAft>
                <a:spcPts val="1200"/>
              </a:spcAft>
              <a:buClr>
                <a:srgbClr val="000000"/>
              </a:buClr>
              <a:buSzPts val="1000"/>
              <a:buFont typeface="Arial"/>
              <a:buNone/>
            </a:pPr>
            <a:r>
              <a:t/>
            </a:r>
            <a:endParaRPr b="0" i="0" sz="1000" u="none" cap="none" strike="noStrike">
              <a:solidFill>
                <a:schemeClr val="lt2"/>
              </a:solidFill>
              <a:latin typeface="Lato"/>
              <a:ea typeface="Lato"/>
              <a:cs typeface="Lato"/>
              <a:sym typeface="Lato"/>
            </a:endParaRPr>
          </a:p>
        </p:txBody>
      </p:sp>
      <p:grpSp>
        <p:nvGrpSpPr>
          <p:cNvPr id="219" name="Google Shape;219;p10"/>
          <p:cNvGrpSpPr/>
          <p:nvPr/>
        </p:nvGrpSpPr>
        <p:grpSpPr>
          <a:xfrm>
            <a:off x="8479350" y="4455019"/>
            <a:ext cx="577800" cy="656106"/>
            <a:chOff x="8479350" y="4455019"/>
            <a:chExt cx="577800" cy="656106"/>
          </a:xfrm>
        </p:grpSpPr>
        <p:pic>
          <p:nvPicPr>
            <p:cNvPr id="220" name="Google Shape;220;p10"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221" name="Google Shape;221;p10"/>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0808"/>
              <a:buNone/>
            </a:pPr>
            <a:r>
              <a:rPr lang="es"/>
              <a:t>Resultados Obtenidos</a:t>
            </a:r>
            <a:endParaRPr b="0" sz="4400">
              <a:solidFill>
                <a:srgbClr val="000000"/>
              </a:solidFill>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p>
        </p:txBody>
      </p:sp>
      <p:pic>
        <p:nvPicPr>
          <p:cNvPr id="227" name="Google Shape;227;p11"/>
          <p:cNvPicPr preferRelativeResize="0"/>
          <p:nvPr/>
        </p:nvPicPr>
        <p:blipFill rotWithShape="1">
          <a:blip r:embed="rId3">
            <a:alphaModFix/>
          </a:blip>
          <a:srcRect b="0" l="0" r="0" t="0"/>
          <a:stretch/>
        </p:blipFill>
        <p:spPr>
          <a:xfrm>
            <a:off x="230725" y="1183563"/>
            <a:ext cx="1547607" cy="3095213"/>
          </a:xfrm>
          <a:prstGeom prst="rect">
            <a:avLst/>
          </a:prstGeom>
          <a:noFill/>
          <a:ln cap="flat" cmpd="sng" w="19050">
            <a:solidFill>
              <a:schemeClr val="dk2"/>
            </a:solidFill>
            <a:prstDash val="solid"/>
            <a:round/>
            <a:headEnd len="sm" w="sm" type="none"/>
            <a:tailEnd len="sm" w="sm" type="none"/>
          </a:ln>
        </p:spPr>
      </p:pic>
      <p:pic>
        <p:nvPicPr>
          <p:cNvPr id="228" name="Google Shape;228;p11"/>
          <p:cNvPicPr preferRelativeResize="0"/>
          <p:nvPr/>
        </p:nvPicPr>
        <p:blipFill rotWithShape="1">
          <a:blip r:embed="rId4">
            <a:alphaModFix/>
          </a:blip>
          <a:srcRect b="0" l="0" r="0" t="0"/>
          <a:stretch/>
        </p:blipFill>
        <p:spPr>
          <a:xfrm>
            <a:off x="2017338" y="1183563"/>
            <a:ext cx="1547606" cy="3095212"/>
          </a:xfrm>
          <a:prstGeom prst="rect">
            <a:avLst/>
          </a:prstGeom>
          <a:noFill/>
          <a:ln cap="flat" cmpd="sng" w="19050">
            <a:solidFill>
              <a:schemeClr val="dk2"/>
            </a:solidFill>
            <a:prstDash val="solid"/>
            <a:round/>
            <a:headEnd len="sm" w="sm" type="none"/>
            <a:tailEnd len="sm" w="sm" type="none"/>
          </a:ln>
        </p:spPr>
      </p:pic>
      <p:pic>
        <p:nvPicPr>
          <p:cNvPr id="229" name="Google Shape;229;p11"/>
          <p:cNvPicPr preferRelativeResize="0"/>
          <p:nvPr/>
        </p:nvPicPr>
        <p:blipFill rotWithShape="1">
          <a:blip r:embed="rId5">
            <a:alphaModFix/>
          </a:blip>
          <a:srcRect b="0" l="0" r="0" t="0"/>
          <a:stretch/>
        </p:blipFill>
        <p:spPr>
          <a:xfrm>
            <a:off x="3803925" y="1183588"/>
            <a:ext cx="1547606" cy="3095212"/>
          </a:xfrm>
          <a:prstGeom prst="rect">
            <a:avLst/>
          </a:prstGeom>
          <a:noFill/>
          <a:ln cap="flat" cmpd="sng" w="19050">
            <a:solidFill>
              <a:schemeClr val="dk2"/>
            </a:solidFill>
            <a:prstDash val="solid"/>
            <a:round/>
            <a:headEnd len="sm" w="sm" type="none"/>
            <a:tailEnd len="sm" w="sm" type="none"/>
          </a:ln>
        </p:spPr>
      </p:pic>
      <p:pic>
        <p:nvPicPr>
          <p:cNvPr id="230" name="Google Shape;230;p11"/>
          <p:cNvPicPr preferRelativeResize="0"/>
          <p:nvPr/>
        </p:nvPicPr>
        <p:blipFill rotWithShape="1">
          <a:blip r:embed="rId6">
            <a:alphaModFix/>
          </a:blip>
          <a:srcRect b="0" l="0" r="0" t="0"/>
          <a:stretch/>
        </p:blipFill>
        <p:spPr>
          <a:xfrm>
            <a:off x="5590532" y="1183575"/>
            <a:ext cx="1547607" cy="3095212"/>
          </a:xfrm>
          <a:prstGeom prst="rect">
            <a:avLst/>
          </a:prstGeom>
          <a:noFill/>
          <a:ln cap="flat" cmpd="sng" w="19050">
            <a:solidFill>
              <a:schemeClr val="dk2"/>
            </a:solidFill>
            <a:prstDash val="solid"/>
            <a:round/>
            <a:headEnd len="sm" w="sm" type="none"/>
            <a:tailEnd len="sm" w="sm" type="none"/>
          </a:ln>
        </p:spPr>
      </p:pic>
      <p:pic>
        <p:nvPicPr>
          <p:cNvPr id="231" name="Google Shape;231;p11"/>
          <p:cNvPicPr preferRelativeResize="0"/>
          <p:nvPr/>
        </p:nvPicPr>
        <p:blipFill rotWithShape="1">
          <a:blip r:embed="rId7">
            <a:alphaModFix/>
          </a:blip>
          <a:srcRect b="0" l="0" r="0" t="0"/>
          <a:stretch/>
        </p:blipFill>
        <p:spPr>
          <a:xfrm>
            <a:off x="7377113" y="1195038"/>
            <a:ext cx="1536143" cy="3072285"/>
          </a:xfrm>
          <a:prstGeom prst="rect">
            <a:avLst/>
          </a:prstGeom>
          <a:noFill/>
          <a:ln cap="flat" cmpd="sng" w="19050">
            <a:solidFill>
              <a:schemeClr val="dk2"/>
            </a:solidFill>
            <a:prstDash val="solid"/>
            <a:round/>
            <a:headEnd len="sm" w="sm" type="none"/>
            <a:tailEnd len="sm" w="sm" type="none"/>
          </a:ln>
        </p:spPr>
      </p:pic>
      <p:sp>
        <p:nvSpPr>
          <p:cNvPr id="232" name="Google Shape;232;p11"/>
          <p:cNvSpPr txBox="1"/>
          <p:nvPr/>
        </p:nvSpPr>
        <p:spPr>
          <a:xfrm>
            <a:off x="231175" y="4478900"/>
            <a:ext cx="1547700" cy="361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Lato"/>
                <a:ea typeface="Lato"/>
                <a:cs typeface="Lato"/>
                <a:sym typeface="Lato"/>
              </a:rPr>
              <a:t>Pantalla de Inicio</a:t>
            </a:r>
            <a:endParaRPr b="0" i="0" sz="1400" u="none" cap="none" strike="noStrike">
              <a:solidFill>
                <a:schemeClr val="dk2"/>
              </a:solidFill>
              <a:latin typeface="Lato"/>
              <a:ea typeface="Lato"/>
              <a:cs typeface="Lato"/>
              <a:sym typeface="Lato"/>
            </a:endParaRPr>
          </a:p>
        </p:txBody>
      </p:sp>
      <p:sp>
        <p:nvSpPr>
          <p:cNvPr id="233" name="Google Shape;233;p11"/>
          <p:cNvSpPr txBox="1"/>
          <p:nvPr/>
        </p:nvSpPr>
        <p:spPr>
          <a:xfrm>
            <a:off x="2017300" y="4478900"/>
            <a:ext cx="1547700" cy="36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Lato"/>
                <a:ea typeface="Lato"/>
                <a:cs typeface="Lato"/>
                <a:sym typeface="Lato"/>
              </a:rPr>
              <a:t>Lista de Mascotas</a:t>
            </a:r>
            <a:endParaRPr b="0" i="0" sz="1400" u="none" cap="none" strike="noStrike">
              <a:solidFill>
                <a:schemeClr val="dk2"/>
              </a:solidFill>
              <a:latin typeface="Lato"/>
              <a:ea typeface="Lato"/>
              <a:cs typeface="Lato"/>
              <a:sym typeface="Lato"/>
            </a:endParaRPr>
          </a:p>
        </p:txBody>
      </p:sp>
      <p:sp>
        <p:nvSpPr>
          <p:cNvPr id="234" name="Google Shape;234;p11"/>
          <p:cNvSpPr txBox="1"/>
          <p:nvPr/>
        </p:nvSpPr>
        <p:spPr>
          <a:xfrm>
            <a:off x="3803425" y="4478900"/>
            <a:ext cx="1547700" cy="36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Lato"/>
                <a:ea typeface="Lato"/>
                <a:cs typeface="Lato"/>
                <a:sym typeface="Lato"/>
              </a:rPr>
              <a:t>Detalles de Mascota</a:t>
            </a:r>
            <a:endParaRPr b="0" i="0" sz="1400" u="none" cap="none" strike="noStrike">
              <a:solidFill>
                <a:schemeClr val="dk2"/>
              </a:solidFill>
              <a:latin typeface="Lato"/>
              <a:ea typeface="Lato"/>
              <a:cs typeface="Lato"/>
              <a:sym typeface="Lato"/>
            </a:endParaRPr>
          </a:p>
        </p:txBody>
      </p:sp>
      <p:sp>
        <p:nvSpPr>
          <p:cNvPr id="235" name="Google Shape;235;p11"/>
          <p:cNvSpPr txBox="1"/>
          <p:nvPr/>
        </p:nvSpPr>
        <p:spPr>
          <a:xfrm>
            <a:off x="5589550" y="4478900"/>
            <a:ext cx="1547700" cy="36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Lato"/>
                <a:ea typeface="Lato"/>
                <a:cs typeface="Lato"/>
                <a:sym typeface="Lato"/>
              </a:rPr>
              <a:t>Reportar Hallazgo con QR</a:t>
            </a:r>
            <a:endParaRPr b="0" i="0" sz="1400" u="none" cap="none" strike="noStrike">
              <a:solidFill>
                <a:schemeClr val="dk2"/>
              </a:solidFill>
              <a:latin typeface="Lato"/>
              <a:ea typeface="Lato"/>
              <a:cs typeface="Lato"/>
              <a:sym typeface="Lato"/>
            </a:endParaRPr>
          </a:p>
        </p:txBody>
      </p:sp>
      <p:sp>
        <p:nvSpPr>
          <p:cNvPr id="236" name="Google Shape;236;p11"/>
          <p:cNvSpPr txBox="1"/>
          <p:nvPr/>
        </p:nvSpPr>
        <p:spPr>
          <a:xfrm>
            <a:off x="7371338" y="4478900"/>
            <a:ext cx="1547700" cy="361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Lato"/>
                <a:ea typeface="Lato"/>
                <a:cs typeface="Lato"/>
                <a:sym typeface="Lato"/>
              </a:rPr>
              <a:t>Notificaciones</a:t>
            </a:r>
            <a:endParaRPr b="0" i="0" sz="1400" u="none" cap="none" strike="noStrike">
              <a:solidFill>
                <a:schemeClr val="dk2"/>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ph type="title"/>
          </p:nvPr>
        </p:nvSpPr>
        <p:spPr>
          <a:xfrm>
            <a:off x="0" y="2571750"/>
            <a:ext cx="9144000" cy="2571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200"/>
              <a:buNone/>
            </a:pPr>
            <a:r>
              <a:rPr lang="es"/>
              <a:t>Demostración</a:t>
            </a:r>
            <a:endParaRPr/>
          </a:p>
          <a:p>
            <a:pPr indent="0" lvl="0" marL="0" rtl="0" algn="l">
              <a:lnSpc>
                <a:spcPct val="100000"/>
              </a:lnSpc>
              <a:spcBef>
                <a:spcPts val="0"/>
              </a:spcBef>
              <a:spcAft>
                <a:spcPts val="0"/>
              </a:spcAft>
              <a:buSzPts val="3200"/>
              <a:buNone/>
            </a:pPr>
            <a:r>
              <a:t/>
            </a:r>
            <a:endParaRPr/>
          </a:p>
        </p:txBody>
      </p:sp>
      <p:pic>
        <p:nvPicPr>
          <p:cNvPr id="242" name="Google Shape;242;p12" title="icon-only.png"/>
          <p:cNvPicPr preferRelativeResize="0"/>
          <p:nvPr/>
        </p:nvPicPr>
        <p:blipFill rotWithShape="1">
          <a:blip r:embed="rId3">
            <a:alphaModFix/>
          </a:blip>
          <a:srcRect b="0" l="0" r="0" t="0"/>
          <a:stretch/>
        </p:blipFill>
        <p:spPr>
          <a:xfrm>
            <a:off x="3592908" y="613587"/>
            <a:ext cx="1958175" cy="1958175"/>
          </a:xfrm>
          <a:prstGeom prst="rect">
            <a:avLst/>
          </a:prstGeom>
          <a:noFill/>
          <a:ln>
            <a:noFill/>
          </a:ln>
        </p:spPr>
      </p:pic>
      <p:sp>
        <p:nvSpPr>
          <p:cNvPr id="243" name="Google Shape;243;p12"/>
          <p:cNvSpPr txBox="1"/>
          <p:nvPr>
            <p:ph idx="4294967295" type="subTitle"/>
          </p:nvPr>
        </p:nvSpPr>
        <p:spPr>
          <a:xfrm>
            <a:off x="3096288" y="2345252"/>
            <a:ext cx="2951400" cy="453000"/>
          </a:xfrm>
          <a:prstGeom prst="rect">
            <a:avLst/>
          </a:prstGeom>
          <a:noFill/>
          <a:ln>
            <a:noFill/>
          </a:ln>
        </p:spPr>
        <p:txBody>
          <a:bodyPr anchorCtr="0" anchor="b" bIns="91425" lIns="91425" spcFirstLastPara="1" rIns="91425" wrap="square" tIns="91425">
            <a:normAutofit lnSpcReduction="10000"/>
          </a:bodyPr>
          <a:lstStyle/>
          <a:p>
            <a:pPr indent="0" lvl="0" marL="0" rtl="0" algn="ctr">
              <a:lnSpc>
                <a:spcPct val="100000"/>
              </a:lnSpc>
              <a:spcBef>
                <a:spcPts val="0"/>
              </a:spcBef>
              <a:spcAft>
                <a:spcPts val="0"/>
              </a:spcAft>
              <a:buSzPts val="1800"/>
              <a:buNone/>
            </a:pPr>
            <a:r>
              <a:rPr lang="es"/>
              <a:t>SafePet</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3"/>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Obstáculos presentados durante el desarrollo</a:t>
            </a:r>
            <a:endParaRPr/>
          </a:p>
          <a:p>
            <a:pPr indent="0" lvl="0" marL="0" rtl="0" algn="l">
              <a:lnSpc>
                <a:spcPct val="100000"/>
              </a:lnSpc>
              <a:spcBef>
                <a:spcPts val="0"/>
              </a:spcBef>
              <a:spcAft>
                <a:spcPts val="0"/>
              </a:spcAft>
              <a:buSzPct val="111111"/>
              <a:buNone/>
            </a:pPr>
            <a:r>
              <a:t/>
            </a:r>
            <a:endParaRPr/>
          </a:p>
        </p:txBody>
      </p:sp>
      <p:sp>
        <p:nvSpPr>
          <p:cNvPr id="249" name="Google Shape;249;p13"/>
          <p:cNvSpPr txBox="1"/>
          <p:nvPr/>
        </p:nvSpPr>
        <p:spPr>
          <a:xfrm>
            <a:off x="429725" y="1132475"/>
            <a:ext cx="8478000" cy="35112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2"/>
              </a:buClr>
              <a:buSzPts val="1500"/>
              <a:buFont typeface="Lato"/>
              <a:buChar char="●"/>
            </a:pPr>
            <a:r>
              <a:rPr b="0" i="0" lang="es" sz="1500" u="none" cap="none" strike="noStrike">
                <a:solidFill>
                  <a:schemeClr val="dk2"/>
                </a:solidFill>
                <a:latin typeface="Lato"/>
                <a:ea typeface="Lato"/>
                <a:cs typeface="Lato"/>
                <a:sym typeface="Lato"/>
              </a:rPr>
              <a:t>Configuración del servidor y problemas de CORS al consumir el backend desde la app.</a:t>
            </a:r>
            <a:br>
              <a:rPr b="0" i="0" lang="es" sz="1500" u="none" cap="none" strike="noStrike">
                <a:solidFill>
                  <a:schemeClr val="dk2"/>
                </a:solidFill>
                <a:latin typeface="Lato"/>
                <a:ea typeface="Lato"/>
                <a:cs typeface="Lato"/>
                <a:sym typeface="Lato"/>
              </a:rPr>
            </a:br>
            <a:endParaRPr b="0" i="0" sz="1500" u="none" cap="none" strike="noStrike">
              <a:solidFill>
                <a:schemeClr val="dk2"/>
              </a:solidFill>
              <a:latin typeface="Lato"/>
              <a:ea typeface="Lato"/>
              <a:cs typeface="Lato"/>
              <a:sym typeface="Lato"/>
            </a:endParaRPr>
          </a:p>
          <a:p>
            <a:pPr indent="-323850" lvl="0" marL="457200" marR="0" rtl="0" algn="l">
              <a:lnSpc>
                <a:spcPct val="100000"/>
              </a:lnSpc>
              <a:spcBef>
                <a:spcPts val="0"/>
              </a:spcBef>
              <a:spcAft>
                <a:spcPts val="0"/>
              </a:spcAft>
              <a:buClr>
                <a:schemeClr val="dk2"/>
              </a:buClr>
              <a:buSzPts val="1500"/>
              <a:buFont typeface="Lato"/>
              <a:buChar char="●"/>
            </a:pPr>
            <a:r>
              <a:rPr b="0" i="0" lang="es" sz="1500" u="none" cap="none" strike="noStrike">
                <a:solidFill>
                  <a:schemeClr val="dk2"/>
                </a:solidFill>
                <a:latin typeface="Lato"/>
                <a:ea typeface="Lato"/>
                <a:cs typeface="Lato"/>
                <a:sym typeface="Lato"/>
              </a:rPr>
              <a:t>Dificultades en la integración con Flow para los pagos de suscripción (firmas, redirecciones, pruebas).</a:t>
            </a:r>
            <a:br>
              <a:rPr b="0" i="0" lang="es" sz="1500" u="none" cap="none" strike="noStrike">
                <a:solidFill>
                  <a:schemeClr val="dk2"/>
                </a:solidFill>
                <a:latin typeface="Lato"/>
                <a:ea typeface="Lato"/>
                <a:cs typeface="Lato"/>
                <a:sym typeface="Lato"/>
              </a:rPr>
            </a:br>
            <a:endParaRPr b="0" i="0" sz="1500" u="none" cap="none" strike="noStrike">
              <a:solidFill>
                <a:schemeClr val="dk2"/>
              </a:solidFill>
              <a:latin typeface="Lato"/>
              <a:ea typeface="Lato"/>
              <a:cs typeface="Lato"/>
              <a:sym typeface="Lato"/>
            </a:endParaRPr>
          </a:p>
          <a:p>
            <a:pPr indent="-323850" lvl="0" marL="457200" marR="0" rtl="0" algn="l">
              <a:lnSpc>
                <a:spcPct val="150000"/>
              </a:lnSpc>
              <a:spcBef>
                <a:spcPts val="0"/>
              </a:spcBef>
              <a:spcAft>
                <a:spcPts val="0"/>
              </a:spcAft>
              <a:buClr>
                <a:schemeClr val="dk2"/>
              </a:buClr>
              <a:buSzPts val="1500"/>
              <a:buFont typeface="Lato"/>
              <a:buChar char="●"/>
            </a:pPr>
            <a:r>
              <a:rPr b="0" i="0" lang="es" sz="1500" u="none" cap="none" strike="noStrike">
                <a:solidFill>
                  <a:schemeClr val="dk2"/>
                </a:solidFill>
                <a:latin typeface="Lato"/>
                <a:ea typeface="Lato"/>
                <a:cs typeface="Lato"/>
                <a:sym typeface="Lato"/>
              </a:rPr>
              <a:t>Limitación en materiales para el desarrollo del prototipo del localizador.</a:t>
            </a:r>
            <a:endParaRPr b="0" i="0" sz="1500" u="none" cap="none" strike="noStrike">
              <a:solidFill>
                <a:schemeClr val="dk2"/>
              </a:solidFill>
              <a:latin typeface="Lato"/>
              <a:ea typeface="Lato"/>
              <a:cs typeface="Lato"/>
              <a:sym typeface="Lato"/>
            </a:endParaRPr>
          </a:p>
          <a:p>
            <a:pPr indent="-323850" lvl="0" marL="457200" marR="0" rtl="0" algn="l">
              <a:lnSpc>
                <a:spcPct val="100000"/>
              </a:lnSpc>
              <a:spcBef>
                <a:spcPts val="0"/>
              </a:spcBef>
              <a:spcAft>
                <a:spcPts val="0"/>
              </a:spcAft>
              <a:buClr>
                <a:schemeClr val="dk2"/>
              </a:buClr>
              <a:buSzPts val="1500"/>
              <a:buFont typeface="Lato"/>
              <a:buChar char="●"/>
            </a:pPr>
            <a:r>
              <a:rPr b="0" i="0" lang="es" sz="1500" u="none" cap="none" strike="noStrike">
                <a:solidFill>
                  <a:schemeClr val="dk2"/>
                </a:solidFill>
                <a:latin typeface="Lato"/>
                <a:ea typeface="Lato"/>
                <a:cs typeface="Lato"/>
                <a:sym typeface="Lato"/>
              </a:rPr>
              <a:t>Manejo de la geolocalización y el mapa, especialmente la precisión de la ubicación en algunos dispositivos.</a:t>
            </a:r>
            <a:br>
              <a:rPr b="0" i="0" lang="es" sz="1500" u="none" cap="none" strike="noStrike">
                <a:solidFill>
                  <a:schemeClr val="dk2"/>
                </a:solidFill>
                <a:latin typeface="Lato"/>
                <a:ea typeface="Lato"/>
                <a:cs typeface="Lato"/>
                <a:sym typeface="Lato"/>
              </a:rPr>
            </a:br>
            <a:endParaRPr b="0" i="0" sz="1500" u="none" cap="none" strike="noStrike">
              <a:solidFill>
                <a:schemeClr val="dk2"/>
              </a:solidFill>
              <a:latin typeface="Lato"/>
              <a:ea typeface="Lato"/>
              <a:cs typeface="Lato"/>
              <a:sym typeface="Lato"/>
            </a:endParaRPr>
          </a:p>
          <a:p>
            <a:pPr indent="-323850" lvl="0" marL="457200" marR="0" rtl="0" algn="l">
              <a:lnSpc>
                <a:spcPct val="100000"/>
              </a:lnSpc>
              <a:spcBef>
                <a:spcPts val="0"/>
              </a:spcBef>
              <a:spcAft>
                <a:spcPts val="0"/>
              </a:spcAft>
              <a:buClr>
                <a:schemeClr val="dk2"/>
              </a:buClr>
              <a:buSzPts val="1500"/>
              <a:buFont typeface="Lato"/>
              <a:buChar char="●"/>
            </a:pPr>
            <a:r>
              <a:rPr b="0" i="0" lang="es" sz="1500" u="none" cap="none" strike="noStrike">
                <a:solidFill>
                  <a:schemeClr val="dk2"/>
                </a:solidFill>
                <a:latin typeface="Lato"/>
                <a:ea typeface="Lato"/>
                <a:cs typeface="Lato"/>
                <a:sym typeface="Lato"/>
              </a:rPr>
              <a:t>Definir un modelo de datos que cubriera usuarios, mascotas, alertas, reportes y pagos sin duplicar información.</a:t>
            </a:r>
            <a:endParaRPr b="0" i="0" sz="800" u="none" cap="none" strike="noStrike">
              <a:solidFill>
                <a:srgbClr val="000000"/>
              </a:solidFill>
              <a:latin typeface="Arial"/>
              <a:ea typeface="Arial"/>
              <a:cs typeface="Arial"/>
              <a:sym typeface="Arial"/>
            </a:endParaRPr>
          </a:p>
          <a:p>
            <a:pPr indent="0" lvl="0" marL="0" marR="0" rtl="0" algn="l">
              <a:lnSpc>
                <a:spcPct val="200000"/>
              </a:lnSpc>
              <a:spcBef>
                <a:spcPts val="1200"/>
              </a:spcBef>
              <a:spcAft>
                <a:spcPts val="0"/>
              </a:spcAft>
              <a:buClr>
                <a:srgbClr val="000000"/>
              </a:buClr>
              <a:buSzPts val="1800"/>
              <a:buFont typeface="Arial"/>
              <a:buNone/>
            </a:pPr>
            <a:r>
              <a:t/>
            </a:r>
            <a:endParaRPr b="0" i="0" sz="1800" u="none" cap="none" strike="noStrike">
              <a:solidFill>
                <a:schemeClr val="dk2"/>
              </a:solidFill>
              <a:latin typeface="Lato"/>
              <a:ea typeface="Lato"/>
              <a:cs typeface="Lato"/>
              <a:sym typeface="Lato"/>
            </a:endParaRPr>
          </a:p>
          <a:p>
            <a:pPr indent="0" lvl="0" marL="0" marR="0" rtl="0" algn="l">
              <a:lnSpc>
                <a:spcPct val="200000"/>
              </a:lnSpc>
              <a:spcBef>
                <a:spcPts val="1200"/>
              </a:spcBef>
              <a:spcAft>
                <a:spcPts val="0"/>
              </a:spcAft>
              <a:buClr>
                <a:srgbClr val="000000"/>
              </a:buClr>
              <a:buSzPts val="1000"/>
              <a:buFont typeface="Arial"/>
              <a:buNone/>
            </a:pPr>
            <a:r>
              <a:rPr b="0" i="0" lang="es" sz="1000" u="none" cap="none" strike="noStrike">
                <a:solidFill>
                  <a:schemeClr val="lt2"/>
                </a:solidFill>
                <a:latin typeface="Lato"/>
                <a:ea typeface="Lato"/>
                <a:cs typeface="Lato"/>
                <a:sym typeface="Lato"/>
              </a:rPr>
              <a:t>* CORS: Cross-Origin Resource Sharing</a:t>
            </a:r>
            <a:endParaRPr b="0" i="0" sz="1000" u="none" cap="none" strike="noStrike">
              <a:solidFill>
                <a:schemeClr val="lt2"/>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1800"/>
              <a:buFont typeface="Arial"/>
              <a:buNone/>
            </a:pPr>
            <a:r>
              <a:t/>
            </a:r>
            <a:endParaRPr b="1" i="0" sz="1800" u="none" cap="none" strike="noStrike">
              <a:solidFill>
                <a:schemeClr val="dk2"/>
              </a:solidFill>
              <a:latin typeface="Lato"/>
              <a:ea typeface="Lato"/>
              <a:cs typeface="Lato"/>
              <a:sym typeface="Lato"/>
            </a:endParaRPr>
          </a:p>
        </p:txBody>
      </p:sp>
      <p:grpSp>
        <p:nvGrpSpPr>
          <p:cNvPr id="250" name="Google Shape;250;p13"/>
          <p:cNvGrpSpPr/>
          <p:nvPr/>
        </p:nvGrpSpPr>
        <p:grpSpPr>
          <a:xfrm>
            <a:off x="8479350" y="4455019"/>
            <a:ext cx="577800" cy="656106"/>
            <a:chOff x="8479350" y="4455019"/>
            <a:chExt cx="577800" cy="656106"/>
          </a:xfrm>
        </p:grpSpPr>
        <p:pic>
          <p:nvPicPr>
            <p:cNvPr id="251" name="Google Shape;251;p13"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252" name="Google Shape;252;p13"/>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4"/>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Conclusión </a:t>
            </a:r>
            <a:endParaRPr/>
          </a:p>
        </p:txBody>
      </p:sp>
      <p:sp>
        <p:nvSpPr>
          <p:cNvPr id="258" name="Google Shape;258;p14"/>
          <p:cNvSpPr txBox="1"/>
          <p:nvPr/>
        </p:nvSpPr>
        <p:spPr>
          <a:xfrm>
            <a:off x="442025" y="1083250"/>
            <a:ext cx="8478000" cy="351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Lato"/>
                <a:ea typeface="Lato"/>
                <a:cs typeface="Lato"/>
                <a:sym typeface="Lato"/>
              </a:rPr>
              <a:t>SafePet es un proyecto factible que aborda una necesidad real de la comunidad, otorgando una solución tecnológica funcional a través de un producto útil.</a:t>
            </a:r>
            <a:endParaRPr b="0" i="0" sz="1800" u="none" cap="none" strike="noStrike">
              <a:solidFill>
                <a:schemeClr val="dk2"/>
              </a:solidFill>
              <a:latin typeface="Lato"/>
              <a:ea typeface="Lato"/>
              <a:cs typeface="Lato"/>
              <a:sym typeface="Lato"/>
            </a:endParaRPr>
          </a:p>
          <a:p>
            <a:pPr indent="0" lvl="0" marL="0" marR="0" rtl="0" algn="l">
              <a:lnSpc>
                <a:spcPct val="115000"/>
              </a:lnSpc>
              <a:spcBef>
                <a:spcPts val="1200"/>
              </a:spcBef>
              <a:spcAft>
                <a:spcPts val="0"/>
              </a:spcAft>
              <a:buClr>
                <a:srgbClr val="000000"/>
              </a:buClr>
              <a:buSzPts val="1800"/>
              <a:buFont typeface="Arial"/>
              <a:buNone/>
            </a:pPr>
            <a:r>
              <a:rPr b="1" i="0" lang="es" sz="1800" u="none" cap="none" strike="noStrike">
                <a:solidFill>
                  <a:schemeClr val="dk2"/>
                </a:solidFill>
                <a:latin typeface="Lato"/>
                <a:ea typeface="Lato"/>
                <a:cs typeface="Lato"/>
                <a:sym typeface="Lato"/>
              </a:rPr>
              <a:t>• Impacto Social Real</a:t>
            </a:r>
            <a:r>
              <a:rPr b="0" i="0" lang="es" sz="1800" u="none" cap="none" strike="noStrike">
                <a:solidFill>
                  <a:schemeClr val="dk2"/>
                </a:solidFill>
                <a:latin typeface="Lato"/>
                <a:ea typeface="Lato"/>
                <a:cs typeface="Lato"/>
                <a:sym typeface="Lato"/>
              </a:rPr>
              <a:t>: No solo estamos desarrollando software; estamos creando una herramienta para aliviar la angustia de las familias y fortalecer la comunidad en torno a la tenencia responsable de mascotas.  </a:t>
            </a:r>
            <a:endParaRPr b="0" i="0" sz="1800" u="none" cap="none" strike="noStrike">
              <a:solidFill>
                <a:schemeClr val="dk2"/>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1800"/>
              <a:buFont typeface="Arial"/>
              <a:buNone/>
            </a:pPr>
            <a:r>
              <a:rPr b="0" i="0" lang="es" sz="1800" u="none" cap="none" strike="noStrike">
                <a:solidFill>
                  <a:schemeClr val="dk2"/>
                </a:solidFill>
                <a:latin typeface="Lato"/>
                <a:ea typeface="Lato"/>
                <a:cs typeface="Lato"/>
                <a:sym typeface="Lato"/>
              </a:rPr>
              <a:t>• </a:t>
            </a:r>
            <a:r>
              <a:rPr b="1" i="0" lang="es" sz="1800" u="none" cap="none" strike="noStrike">
                <a:solidFill>
                  <a:schemeClr val="dk2"/>
                </a:solidFill>
                <a:latin typeface="Lato"/>
                <a:ea typeface="Lato"/>
                <a:cs typeface="Lato"/>
                <a:sym typeface="Lato"/>
              </a:rPr>
              <a:t>Visión a Futuro</a:t>
            </a:r>
            <a:r>
              <a:rPr b="0" i="0" lang="es" sz="1800" u="none" cap="none" strike="noStrike">
                <a:solidFill>
                  <a:schemeClr val="dk2"/>
                </a:solidFill>
                <a:latin typeface="Lato"/>
                <a:ea typeface="Lato"/>
                <a:cs typeface="Lato"/>
                <a:sym typeface="Lato"/>
              </a:rPr>
              <a:t>: SafePet tiene el potencial de crecer, integrando nuevas tecnologías como el reconocimiento de imágenes y alianzas con municipalidades y veterinarias para crear una red de seguridad animal a nivel nacional.</a:t>
            </a:r>
            <a:endParaRPr b="1" i="0" sz="1800" u="none" cap="none" strike="noStrike">
              <a:solidFill>
                <a:schemeClr val="dk2"/>
              </a:solidFill>
              <a:latin typeface="Lato"/>
              <a:ea typeface="Lato"/>
              <a:cs typeface="Lato"/>
              <a:sym typeface="Lato"/>
            </a:endParaRPr>
          </a:p>
        </p:txBody>
      </p:sp>
      <p:grpSp>
        <p:nvGrpSpPr>
          <p:cNvPr id="259" name="Google Shape;259;p14"/>
          <p:cNvGrpSpPr/>
          <p:nvPr/>
        </p:nvGrpSpPr>
        <p:grpSpPr>
          <a:xfrm>
            <a:off x="8479350" y="4455019"/>
            <a:ext cx="577800" cy="656106"/>
            <a:chOff x="8479350" y="4455019"/>
            <a:chExt cx="577800" cy="656106"/>
          </a:xfrm>
        </p:grpSpPr>
        <p:pic>
          <p:nvPicPr>
            <p:cNvPr id="260" name="Google Shape;260;p14" title="icon-only.png"/>
            <p:cNvPicPr preferRelativeResize="0"/>
            <p:nvPr/>
          </p:nvPicPr>
          <p:blipFill rotWithShape="1">
            <a:blip r:embed="rId3">
              <a:alphaModFix amt="40000"/>
            </a:blip>
            <a:srcRect b="0" l="0" r="0" t="0"/>
            <a:stretch/>
          </p:blipFill>
          <p:spPr>
            <a:xfrm>
              <a:off x="8517900" y="4455019"/>
              <a:ext cx="500700" cy="500700"/>
            </a:xfrm>
            <a:prstGeom prst="rect">
              <a:avLst/>
            </a:prstGeom>
            <a:noFill/>
            <a:ln>
              <a:noFill/>
            </a:ln>
          </p:spPr>
        </p:pic>
        <p:sp>
          <p:nvSpPr>
            <p:cNvPr id="261" name="Google Shape;261;p14"/>
            <p:cNvSpPr txBox="1"/>
            <p:nvPr/>
          </p:nvSpPr>
          <p:spPr>
            <a:xfrm>
              <a:off x="8479350" y="4955725"/>
              <a:ext cx="577800" cy="15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s" sz="800">
                  <a:solidFill>
                    <a:schemeClr val="lt2"/>
                  </a:solidFill>
                  <a:latin typeface="Lato"/>
                  <a:ea typeface="Lato"/>
                  <a:cs typeface="Lato"/>
                  <a:sym typeface="Lato"/>
                </a:rPr>
                <a:t>SafePet</a:t>
              </a:r>
              <a:endParaRPr sz="800">
                <a:solidFill>
                  <a:schemeClr val="lt2"/>
                </a:solidFill>
                <a:latin typeface="Lato"/>
                <a:ea typeface="Lato"/>
                <a:cs typeface="Lato"/>
                <a:sym typeface="Lat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4889925" y="1650625"/>
            <a:ext cx="4045200" cy="1683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s">
                <a:solidFill>
                  <a:schemeClr val="lt1"/>
                </a:solidFill>
              </a:rPr>
              <a:t>Gracias por</a:t>
            </a:r>
            <a:endParaRPr>
              <a:solidFill>
                <a:schemeClr val="lt1"/>
              </a:solidFill>
            </a:endParaRPr>
          </a:p>
          <a:p>
            <a:pPr indent="0" lvl="0" marL="0" rtl="0" algn="ctr">
              <a:lnSpc>
                <a:spcPct val="100000"/>
              </a:lnSpc>
              <a:spcBef>
                <a:spcPts val="0"/>
              </a:spcBef>
              <a:spcAft>
                <a:spcPts val="0"/>
              </a:spcAft>
              <a:buSzPts val="4200"/>
              <a:buNone/>
            </a:pPr>
            <a:r>
              <a:rPr lang="es">
                <a:solidFill>
                  <a:schemeClr val="lt1"/>
                </a:solidFill>
              </a:rPr>
              <a:t>su atención</a:t>
            </a:r>
            <a:endParaRPr>
              <a:solidFill>
                <a:schemeClr val="lt1"/>
              </a:solidFill>
            </a:endParaRPr>
          </a:p>
        </p:txBody>
      </p:sp>
      <p:pic>
        <p:nvPicPr>
          <p:cNvPr id="267" name="Google Shape;267;p15" title="icon-only.png"/>
          <p:cNvPicPr preferRelativeResize="0"/>
          <p:nvPr/>
        </p:nvPicPr>
        <p:blipFill rotWithShape="1">
          <a:blip r:embed="rId3">
            <a:alphaModFix/>
          </a:blip>
          <a:srcRect b="0" l="0" r="0" t="0"/>
          <a:stretch/>
        </p:blipFill>
        <p:spPr>
          <a:xfrm>
            <a:off x="1324646" y="1592675"/>
            <a:ext cx="1958175" cy="1958175"/>
          </a:xfrm>
          <a:prstGeom prst="rect">
            <a:avLst/>
          </a:prstGeom>
          <a:noFill/>
          <a:ln>
            <a:noFill/>
          </a:ln>
        </p:spPr>
      </p:pic>
      <p:sp>
        <p:nvSpPr>
          <p:cNvPr id="268" name="Google Shape;268;p15"/>
          <p:cNvSpPr txBox="1"/>
          <p:nvPr>
            <p:ph idx="1" type="subTitle"/>
          </p:nvPr>
        </p:nvSpPr>
        <p:spPr>
          <a:xfrm>
            <a:off x="828038" y="3550852"/>
            <a:ext cx="2951400" cy="453000"/>
          </a:xfrm>
          <a:prstGeom prst="rect">
            <a:avLst/>
          </a:prstGeom>
          <a:noFill/>
          <a:ln>
            <a:noFill/>
          </a:ln>
        </p:spPr>
        <p:txBody>
          <a:bodyPr anchorCtr="0" anchor="b" bIns="91425" lIns="91425" spcFirstLastPara="1" rIns="91425" wrap="square" tIns="91425">
            <a:normAutofit lnSpcReduction="20000"/>
          </a:bodyPr>
          <a:lstStyle/>
          <a:p>
            <a:pPr indent="0" lvl="0" marL="0" rtl="0" algn="ctr">
              <a:lnSpc>
                <a:spcPct val="100000"/>
              </a:lnSpc>
              <a:spcBef>
                <a:spcPts val="0"/>
              </a:spcBef>
              <a:spcAft>
                <a:spcPts val="0"/>
              </a:spcAft>
              <a:buSzPts val="1800"/>
              <a:buNone/>
            </a:pPr>
            <a:r>
              <a:rPr b="1" lang="es"/>
              <a:t>SafePet</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